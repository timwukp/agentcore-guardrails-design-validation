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96926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已驗證的設計文件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Amazon Bedrock AgentCore 的 Guardrails 閉環設計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BEFORE → DURING → AFTER:六個檢查點 hop、每一個的成本,以及文件中的哪些主張在實測後仍然站得住。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160520"/>
            <a:ext cx="3840480" cy="18288"/>
          </a:xfrm>
          <a:prstGeom prst="rect">
            <a:avLst/>
          </a:prstGeom>
          <a:solidFill>
            <a:srgbClr val="44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4348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版本   </a:t>
            </a:r>
            <a:r>
              <a:rPr sz="1050" b="0" i="0">
                <a:solidFill>
                  <a:srgbClr val="C8D3DD"/>
                </a:solidFill>
                <a:latin typeface="Arial"/>
                <a:ea typeface="PingFang TC"/>
                <a:cs typeface="Arial"/>
              </a:rPr>
              <a:t>v1.4 —— 依實測結果自 v1.2 修訂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證據   </a:t>
            </a:r>
            <a:r>
              <a:rPr sz="1050" b="0" i="0">
                <a:solidFill>
                  <a:srgbClr val="C8D3DD"/>
                </a:solidFill>
                <a:latin typeface="Arial"/>
                <a:ea typeface="PingFang TC"/>
                <a:cs typeface="Arial"/>
              </a:rPr>
              <a:t>93 個預先登記的案例 · 90 個已發佈判定 · us-east-1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方法   </a:t>
            </a:r>
            <a:r>
              <a:rPr sz="1050" b="0" i="0">
                <a:solidFill>
                  <a:srgbClr val="C8D3DD"/>
                </a:solidFill>
                <a:latin typeface="Arial"/>
                <a:ea typeface="PingFang TC"/>
                <a:cs typeface="Arial"/>
              </a:rPr>
              <a:t>每一條判定規則都在資料抵達之前封存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程式庫   </a:t>
            </a:r>
            <a:r>
              <a:rPr sz="1050" b="0" i="0">
                <a:solidFill>
                  <a:srgbClr val="C8D3DD"/>
                </a:solidFill>
                <a:latin typeface="Arial"/>
                <a:ea typeface="PingFang TC"/>
                <a:cs typeface="Arial"/>
              </a:rPr>
              <a:t>github.com/timwukp/agentcore-guardrails-design-validation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驗證狀態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數字由 </a:t>
            </a:r>
            <a:r>
              <a:rPr sz="1200" b="0" i="0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census.py</a:t>
            </a:r>
            <a:r>
              <a:rPr sz="12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從磁碟上的判定檔重新推導,不是人工維護的。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81912"/>
            <a:ext cx="2079894" cy="4114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93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登記案例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在量測之前封存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1414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1414" y="1581912"/>
            <a:ext cx="2079894" cy="41148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9430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90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已發佈判定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每案一份,存於磁碟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5900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55900" y="1581912"/>
            <a:ext cx="2079894" cy="41148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3916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45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TRUE</a:t>
            </a:r>
            <a:r>
              <a:rPr sz="115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—— 已確認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就地標註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0386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00386" y="1581912"/>
            <a:ext cx="2079894" cy="41148"/>
          </a:xfrm>
          <a:prstGeom prst="rect">
            <a:avLst/>
          </a:prstGeom>
          <a:solidFill>
            <a:srgbClr val="B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8402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23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FALSE</a:t>
            </a:r>
            <a:r>
              <a:rPr sz="115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—— 已駁回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就地修正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4872" y="1581912"/>
            <a:ext cx="2079894" cy="1371600"/>
          </a:xfrm>
          <a:prstGeom prst="rect">
            <a:avLst/>
          </a:prstGeom>
          <a:solidFill>
            <a:srgbClr val="F3F6F9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44872" y="1581912"/>
            <a:ext cx="2079894" cy="41148"/>
          </a:xfrm>
          <a:prstGeom prst="rect">
            <a:avLst/>
          </a:prstGeom>
          <a:solidFill>
            <a:srgbClr val="9A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2888" y="1801368"/>
            <a:ext cx="182386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20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主張保持不變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191256"/>
            <a:ext cx="11057839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可判定的是 92 個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,不是 93:F9-1 依它自己封存的 oracle 就是不可測的 —— AgentCore 沒有任何針對政策評估的故障注入介面,所以這個案例永遠跑不了。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674872"/>
            <a:ext cx="11057839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 個 </a:t>
            </a:r>
            <a:r>
              <a:rPr sz="13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RECORDED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判定(F5-4a、F5-4b)—— 這是一種判定值,不是豁免:它們和其他案例一樣有結果檔。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66972"/>
            <a:ext cx="11057839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 個未結案:F10-1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(§3.2 計費不對稱)。這不是漏跑 —— Cost Explorer 最細只到「日」,而 oracle 需要逐請求的差值。它被記錄為「未量測」,而不是懸而未決。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450588"/>
            <a:ext cx="11057839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 個沒有可發佈地位的案例:F5-3b。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它回傳 </a:t>
            </a:r>
            <a:r>
              <a:rPr sz="13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TRUE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,但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every_boundary_transition_was_observed_to_settle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這道守衛失敗,因此不計入,也不被引用為任何確認。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方法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如何讀本簡報中的判定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每個案例的判定規則都在任何資料抵達前就封存了。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86992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這條規則 —— 也就是 *oracle* —— 連同樣本數、門檻值與守衛條件,一起以 sha256 釘在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lib/oracle.py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。結果無法事後重新詮釋,因為詮釋方式在事前就已固定。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34621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✓ </a:t>
            </a:r>
            <a:r>
              <a:rPr sz="14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TRUE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 —— 文件的主張獲得確認。文字保留,附上一段有日期的引用。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41453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FALSE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—— 主張被駁回。文字就地修正,而修正本身會說明它的適用範圍。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4828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不是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FALSE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,而且它不授權任何修訂。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是儀器沒能把問題問出來,所以主張完全照 v1.2 原文保留。有二十項主張處於這個狀態,沒有一項被暗中軟化。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61365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沒有任何主張是用單一日曆日的資料修訂的。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reproduction_before_amendment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要求第二個 UTC 日。這就是為什麼一項已確認的發現(F5-8,路徑 #3 的憑證)只被標註,還沒取代它的 NDA 引用。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29309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本簡報上的數字都是實測值,並附上樣本數、Region 與日期。凡是沒有數字的地方,就是沒有量測 —— 而不是被省略。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判定檔: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results/phase1/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。預先登記: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PREREGISTRATION.yaml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。兩者都在標題頁所列的程式庫中。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執行摘要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為什麼 guardrails 設計需要一份延遲預算,以及在任何調校開始之前,哪兩個限制就決定了部署方式。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§1 執行摘要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本設計要解決的問題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AgentCore 上的 guardrails 不是一道檢查 —— 而是請求/回應生命週期中的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多個檢查點 hop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。每一個 hop 對安全都是必要的,而每一個都會增加可量測的延遲。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本文件定義完整的 </a:t>
            </a:r>
            <a:r>
              <a:rPr sz="14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BEFORE → DURING → AFTER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閉環,並把每個 hop 的成本寫明,讓安全與延遲之間的取捨成為一項決策,而不是一個意外。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007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是實測,不是估算。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端到端的 guardrail 總開銷與每個 hop 的 p50/p90/p99 來自 us-east-1、每 hop n = 1000。六個實測 hop 中有五個落在 v1.2 所發佈的示意區間之外。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1315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在你調校任何東西之前,有兩個限制就決定了你的部署: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74848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Region 可用性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—— v1.2 為 Guardrails-in-policy 所列的五個 Region 已被駁回。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CreatePolicyEngine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在 us-west-2、eu-central-1、sa-east-1、ap-south-1 也成功。但建立被接受只代表控制平面接受了一次變更,*不代表*該功能會評估請求 —— 請自行驗證你的 Region。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22477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語言支援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—— Classic tier 的內容過濾只涵蓋英文、法文、西班牙文。在 zh-TW / zh-CN / ja / ko 上,Classic 的偵測率實測為 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0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(n = 240)。Standard tier 能解決,但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強制要求跨 Region 推論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,所以它同時是一個資料落地的決策。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70106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後面所有的東西 —— 門檻值、告警、tier、網路圍堵 —— 都假設這兩個問題已經先有答案。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「Guardrails are ineffective with languages that aren't supported」是 AWS 自己的用語,而實測結果與它字面一致,不是保守解讀。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架構總覽:閉環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三個階段、六個檢查點 hop、一條反饋路徑 —— 以及一套本文件其餘部分都以之為規範的 hop 編號。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閉環:BEFORE → DURING →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28216"/>
            <a:ext cx="3429000" cy="2606040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 w="1143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3209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BEFORE —— 輸入安全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728216"/>
            <a:ext cx="3429000" cy="260604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1792224"/>
            <a:ext cx="3209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DURING —— 執行控制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728216"/>
            <a:ext cx="3429000" cy="2606040"/>
          </a:xfrm>
          <a:prstGeom prst="roundRect">
            <a:avLst>
              <a:gd name="adj" fmla="val 3000"/>
            </a:avLst>
          </a:prstGeom>
          <a:solidFill>
            <a:srgbClr val="E7F4EA"/>
          </a:solidFill>
          <a:ln w="1143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792224"/>
            <a:ext cx="32095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AFTER —— 輸出安全 + 持續改善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2276856"/>
            <a:ext cx="2971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Guardrail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+ 輸入 Guardrail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#1 · #2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2276856"/>
            <a:ext cx="2971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 Runtime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+ 工具授權 (Cedar)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+ 可觀測性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#3 · #4 · #5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2276856"/>
            <a:ext cx="2971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輸出 Guardrail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+ Evaluation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+ Optimization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58768" y="3122676"/>
            <a:ext cx="749808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80375" y="3122676"/>
            <a:ext cx="749808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811511" y="3968496"/>
            <a:ext cx="4573" cy="1234440"/>
          </a:xfrm>
          <a:prstGeom prst="line">
            <a:avLst/>
          </a:prstGeom>
          <a:ln w="19050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368296" y="5202936"/>
            <a:ext cx="7443215" cy="0"/>
          </a:xfrm>
          <a:prstGeom prst="line">
            <a:avLst/>
          </a:prstGeom>
          <a:ln w="19050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68296" y="3968496"/>
            <a:ext cx="4572" cy="1234440"/>
          </a:xfrm>
          <a:prstGeom prst="line">
            <a:avLst/>
          </a:prstGeom>
          <a:ln w="19050">
            <a:solidFill>
              <a:srgbClr val="FF9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56716" y="5129783"/>
            <a:ext cx="242316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6716" y="5138927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FEEDBACK LOOP —— 更新後的 prompt、政策、門檻值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121908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167628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Hop 編號在本文件內為規範性定義(§2.1)。Hop #3 是模型推論——它不是 guardrail 檢查點,納入是因為它主導延遲預算。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§2.1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編號(本文件的規範性定義)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引自 §2.1。後續每一節、每張圖、每個指標都以這些編號指稱 hop。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959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5863" y="1606677"/>
            <a:ext cx="75941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檢查點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6351" y="1606677"/>
            <a:ext cx="20652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階段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5863" y="1890141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Gateway Policy Guardrails(輸入)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351" y="1890141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BEFORE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5863" y="2164461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 — 輸入評估(或 ApplyGuardrail)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6351" y="2164461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BEFORE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8848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38781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45863" y="2438781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模型推論(非 guardrail 檢查點;為延遲預算而納入)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351" y="2438781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DURING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6280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662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13100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5863" y="2713100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 對工具的授權(Cedar Policy)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6351" y="2713100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DURING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37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87420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5863" y="2987420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工具請求/回應 guardrails(Gateway Policy)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6351" y="2987420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DURING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1144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21144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61740"/>
            <a:ext cx="95947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45863" y="3261740"/>
            <a:ext cx="75941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 — 輸出評估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6351" y="3261740"/>
            <a:ext cx="206526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AFTER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48576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編號(規範性)—— 以及毫秒花在哪裡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每個 hop 的實測 p50 延遲,每 hop n = 1000,us-east-1。六個 hop 中有五個落在 v1.2 的示意區間之外,因此區間已被實測值取代。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2145"/>
            <a:ext cx="3520440" cy="420624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 w="1143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86152"/>
            <a:ext cx="33009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922145"/>
            <a:ext cx="5422392" cy="420624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86152"/>
            <a:ext cx="52029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DURING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7815" y="1922145"/>
            <a:ext cx="1645920" cy="420624"/>
          </a:xfrm>
          <a:prstGeom prst="roundRect">
            <a:avLst>
              <a:gd name="adj" fmla="val 3000"/>
            </a:avLst>
          </a:prstGeom>
          <a:solidFill>
            <a:srgbClr val="E7F4EA"/>
          </a:solidFill>
          <a:ln w="1143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67543" y="1986152"/>
            <a:ext cx="1426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2726817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#1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政策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p50 401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2726817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#2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輸入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p50 231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726817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#3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模型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推論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500 ms – 30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2726817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#4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Cedar 工具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授權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p50 55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2726817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#5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工具請求/回應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p50 401 ms ×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03536" y="2726817"/>
            <a:ext cx="1600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#6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輸出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</a:t>
            </a:r>
            <a:br/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p50 234 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85416" y="3504057"/>
            <a:ext cx="283464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69080" y="3504057"/>
            <a:ext cx="283464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52744" y="3504057"/>
            <a:ext cx="283463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36408" y="3504057"/>
            <a:ext cx="283463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20072" y="3504057"/>
            <a:ext cx="283464" cy="0"/>
          </a:xfrm>
          <a:prstGeom prst="line">
            <a:avLst/>
          </a:prstGeom>
          <a:ln w="17780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實測 p50:Hop #1 401 ms · Hop #2 231 ms · Hop #4 55 ms · Hop #5 401 ms × N 次呼叫 · Hop #6 234 ms。Hop #3(模型推論)未重新量測,沿用 v1.2 的 500 ms–30 s。單次工具呼叫總計:1483 / 1722 / 2107 ms。p90/p99 與信賴區間見 §6.1。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階段 1:BEFORE —— 輸入安全檢查點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Gateway 上的 Hop #1、模型邊界上的 Hop #2,以及決定這兩者到底有沒有作用的 tier 選擇。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§3.1 Gateway 政策 guardrails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§3.2 Bedrock Guardrails —— 輸入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§3.3 非 Bedrock 模型的 ApplyGuardrail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§3.4 Tier 與語言支援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#1 —— AgentCore Gateway 政策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在 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gateway 上、agent 被呼叫之前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攔截進入的請求 —— 被阻擋的請求根本到不了模型,因此不花推論成本。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內容會依表達為 </a:t>
            </a:r>
            <a:r>
              <a:rPr sz="14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Cedar 政策條件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的 guardrail 防護進行評估:內容過濾、denied topic、字詞過濾、敏感資訊過濾,以及 prompt 攻擊偵測(JAILBREAK、PROMPT_INJECTION、PROMPT_LEAKAGE)。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007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照 v1.2 逐字照做會踩到的三個陷阱: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1768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把 </a:t>
            </a:r>
            <a:r>
              <a:rPr sz="1302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/</a:t>
            </a:r>
            <a:r>
              <a:rPr sz="1302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boto3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釘在 ≥ 1.43.32。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1.43.30–.31 這兩版露出的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InvokeGuardrailChecks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*沒有*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enforcementMode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,而隨附的 AWS CLI v2 完全沒有 policy-engine 子命令。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09397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明確給定 </a:t>
            </a:r>
            <a:r>
              <a:rPr sz="1302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。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本文件建議的基線 permit 語句在預設的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FAIL_ON_ANY_FINDINGS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下會被拒絕 —— 而且是在 202 回應*之後*非同步發生。請輪詢政策的 </a:t>
            </a:r>
            <a:r>
              <a:rPr sz="1302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status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;絕不要把 202 當成成功。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57026"/>
            <a:ext cx="10820095" cy="2558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在啟用 ENFORCE 之前先寫好基線 permit。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Cedar 是預設拒絕,所以沒有 permit 就切到 ENFORCE 的 engine 會拒絕一切。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1284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模式切換既快也可觀測:一次被接受的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花了 602.8 / 931.7 ms,而先前被阻擋的請求在 13.2–14.2 秒後就被服務了。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旁邊還需要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iam:PassRole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§3.2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#2 —— Bedrock Guardrails 的輸入評估,以及它實際的偵測能力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當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guardrailConfiguration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掛在呼叫上時,它會在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模型推論之前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評估使用者 prompt。違規時推論不會執行,你只付 guardrail 的費用 —— 不付模型的。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支援完整的 guardrail 政策範圍 —— 比 Gateway 層更全面。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007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實測偵測效能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(us-east-1,2026-08-10):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1768"/>
            <a:ext cx="10820095" cy="2558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✓ </a:t>
            </a:r>
            <a:r>
              <a:rPr sz="1302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良性內容誤報率 </a:t>
            </a:r>
            <a:r>
              <a:rPr sz="1302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0.9%</a:t>
            </a:r>
            <a:r>
              <a:rPr sz="1302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 [0.16%, 5.0%](n = 110)—— 過濾器對一般流量不會亂擋。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17586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302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敏感資訊過濾:31 種文件所列的 PII 實體類型中,有 9 種實測未被偵測</a:t>
            </a:r>
            <a:r>
              <a:rPr sz="1302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(recall 信賴區間上界低於 0.5,n = 341)。不要假設文件列出的清單就是實際偵測到的清單 —— 請測試你真正會處理的類型。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65215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凡是預期在模型層做 prompt 攻擊過濾的地方,都要設定 input tagging。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未加標記的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InvokeModel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prompt 攻擊 recall 實測為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0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[0, 0.031](4 個 arm × 120)。加標記是必要的,不是選項 —— 並使用隨機的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tagSuffix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78295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各方向獨立設定(BP#1)</a:t>
            </a:r>
            <a:r>
              <a:rPr sz="1400" b="1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照 v1.2 原文保留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—— F1-11 是 </a:t>
            </a:r>
            <a:r>
              <a:rPr sz="140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計費不對稱:提早阻擋比延後阻擋便宜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9397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使用者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2093976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#2 輸入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 —— 阻擋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13248" y="2093976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模型推論</a:t>
            </a:r>
            <a:br/>
            <a:r>
              <a:rPr sz="10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完全沒有執行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2093976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計費:僅 guardrail text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3133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使用者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3831336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#3 模型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推論執行了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3831336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#6 輸出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 —— 阻擋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7" y="3831336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計費:推論已經跑過 + text unit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41448" y="25511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47488" y="2551176"/>
            <a:ext cx="365760" cy="0"/>
          </a:xfrm>
          <a:prstGeom prst="line">
            <a:avLst/>
          </a:prstGeom>
          <a:ln w="15875">
            <a:solidFill>
              <a:srgbClr val="8A96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44967" y="25511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41448" y="428853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47488" y="428853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44967" y="428853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6121908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167628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未實測 —— F10-1 是唯一未結案的案例。Cost Explorer 最細只到「日」,而 oracle 要讀的是逐請求的差值,因此這項主張完全照 v1.2 原文保留,兩個方向都沒有實測支持(results/CENSUS-NOT-MEASURED.md)。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§3.3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#2-ALT —— ApplyGuardrail,給不在 Bedrock 上的模型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與 Hop #2 相同的 guardrail 評估,但是一個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獨立的 API 呼叫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,與任何基礎模型解耦。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用於第三方模型、自架模型,或 LiteLLM 這類 gateway。你控制何時、如何呼叫它 —— 這也意味著沒有人會替你呼叫。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9382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代價:它多一次到 Bedrock Runtime 的完整往返 API 呼叫。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在延遲預算裡它和其他 hop 一樣,而且它在你選擇檢查的每一個請求的關鍵路徑上。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06904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能批次處理內容區塊就批次處理 —— 但文件所寫的 10 個內容區塊上限</a:t>
            </a:r>
            <a:r>
              <a:rPr sz="1400" b="1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保持不變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:F1-20 是 </a:t>
            </a:r>
            <a:r>
              <a:rPr sz="140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§3.4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Guardrail tier:實測之後改了什麼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引自 §3.4,單元格在句子邊界處節錄。v1.2 的 tier 主張有兩項未能存活。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655854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Classic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6886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Standard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Content filter / prompt attack 語言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854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僅英文、法文、西班牙文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6886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數十種語言,含中文(簡體)、日文、韓文、德文、印地文、阿拉伯文等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87905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8197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Prompt leakage 偵測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5854" y="2338197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弱但可量測(v1.2 曾說「無」)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6886" y="2338197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有(強)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2517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Denied topic 定義長度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5854" y="2612517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200 字元(已在邊界確認)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6886" y="2612517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1,000 字元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無法照文件重現;見下方更正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83654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8365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886836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跨區域推論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5854" y="2886836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886" y="2886836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必需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crossRegionConfig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/ guardrail profile)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1086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Prompt leakage 偵測</a:t>
            </a: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並非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Standard 專屬:Classic 實測 recall 0.41 [0.32, 0.50],FPR 0.036(n = 460)—— 弱,但不是文件寫的「No」。而 Standard tier 的 1,000 字 denied-topic 上限被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ValidationException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拒絕,Classic 的 200 字邊界則完全成立。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Tier 的選擇由流量語言決定,不是由功能偏好決定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16936"/>
            <a:ext cx="2240280" cy="11887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你的流量是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什麼語言?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773936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只有 EN / FR / 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773936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Classic tier 就足夠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9407" y="1773936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Prompt leakage:弱,但不是沒有 —— recall 0.41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4288536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任何 zh / ja / ko / 其他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288536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必須用 Standard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7" y="4288536"/>
            <a:ext cx="2606040" cy="105156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crossRegionConfig 是強制的 —— 資料會離開該 Region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898648" y="2299715"/>
            <a:ext cx="457200" cy="1211581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71215" y="2814066"/>
            <a:ext cx="51206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5" y="2823210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EN/FR/ES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98648" y="3511296"/>
            <a:ext cx="457200" cy="1303020"/>
          </a:xfrm>
          <a:prstGeom prst="line">
            <a:avLst/>
          </a:prstGeom>
          <a:ln w="15875">
            <a:solidFill>
              <a:srgbClr val="B3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770632" y="4071366"/>
            <a:ext cx="713232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4080510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其他任何語言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87568" y="2299715"/>
            <a:ext cx="4572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22208" y="2299715"/>
            <a:ext cx="457199" cy="0"/>
          </a:xfrm>
          <a:prstGeom prst="line">
            <a:avLst/>
          </a:prstGeom>
          <a:ln w="15875">
            <a:solidFill>
              <a:srgbClr val="8A96A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87568" y="4814316"/>
            <a:ext cx="457200" cy="0"/>
          </a:xfrm>
          <a:prstGeom prst="line">
            <a:avLst/>
          </a:prstGeom>
          <a:ln w="15875">
            <a:solidFill>
              <a:srgbClr val="B3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22208" y="4814316"/>
            <a:ext cx="457199" cy="0"/>
          </a:xfrm>
          <a:prstGeom prst="line">
            <a:avLst/>
          </a:prstGeom>
          <a:ln w="15875">
            <a:solidFill>
              <a:srgbClr val="B3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Classic 在 zh-TW / zh-CN / ja / ko 的偵測率實測為 0 [0, 0.0175](n=240)——「無效」是字面意思,不是保守說法。Standard 的成對改善 p ≈ 4.6×10⁻⁴⁶(n=216)。文件所寫的 1,000 字 denied-topic 上限被 ValidationException 拒絕。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如果你來自某個框架:你熟悉的 hook 在這裡的位置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把框架的 hook 概念對應到 AgentCore 原生元件,以及強制執行真正發生的位置。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框架 hook 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5854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AgentCore 原語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6886" y="1606677"/>
            <a:ext cx="3874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強制執行位置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PreToolUse hook(執行前 allow/deny)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854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Cedar Policy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/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(Hop #4)——決定性、預設拒絕、參數層級條件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6886" y="1890141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資料平面(agent microVM 之外)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87905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819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PreToolUse 內容檢查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5854" y="2338197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工具請求上的 Guardrails-in-policy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guardrails {...}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(Hop #5)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6886" y="2338197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資料平面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359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86253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PreToolUse 自訂邏輯(regex、外部授權、逐使用者速率限制)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5854" y="2786253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REQUEST Lambda interceptor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6886" y="2786253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邊界,客戶 Lambda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84016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840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34308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PostToolUse 輸出過濾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5854" y="3234308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suppressOutput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效果——在動作完成後評估其輸出,違反 guardrail 時抑制它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886" y="3234308"/>
            <a:ext cx="387472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資料平面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63207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682364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PostToolUse 轉換/淨化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5854" y="3682364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RESPONSE Lambda interceptor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886" y="3682364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邊界,客戶 Lambda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906392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90639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56684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Hook 稽核軌跡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5854" y="3956684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CloudTrail(政策 CRUD + 評估決策)+ Policy 指標/span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76886" y="3956684"/>
            <a:ext cx="387472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獨立於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18071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階段 2:DURING —— 執行控制與可觀測性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確定性的那一層。Cedar 在每一個 hop 決定工具存取,而它是本設計中唯一對 prompt injection 免疫的部分。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§4.1 Cedar 工具授權(Hop #4)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§4.2 工具請求/回應 guardrails(Hop #5)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§4.3 即時可觀測性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§4.4 不可繞過的 hook · §4.5 網路圍堵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#4 —— Cedar 工具授權是確定性的檢查點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攔截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每一個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經由 Gateway 的 agent 對工具請求,並依政策邏輯做出允許/拒絕的決定 —— 而不是依模型的推理。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✓ </a:t>
            </a:r>
            <a:r>
              <a:rPr sz="14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對 prompt injection 免疫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,因為它在模型之外運作。任何不能被話術繞過的規則,都要放進 </a:t>
            </a:r>
            <a:r>
              <a:rPr sz="1400" b="0" i="0">
                <a:solidFill>
                  <a:srgbClr val="1E7E3C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/</a:t>
            </a:r>
            <a:r>
              <a:rPr sz="1400" b="0" i="0">
                <a:solidFill>
                  <a:srgbClr val="1E7E3C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,而不是放進 guardrail。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9382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✓ </a:t>
            </a:r>
            <a:r>
              <a:rPr sz="14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確定性 —— 而且是實測出來的。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 在同一組設定下 630/630 次試驗產生 </a:t>
            </a:r>
            <a:r>
              <a:rPr sz="14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0 次翻轉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:amount 499.9 允許 300/300,amount 500.0 拒絕 300/300,單邊翻轉率上界 0.00474。邊界是精確的。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06904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花了真實時間才學到的 Cedar 撰寫事實: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68600"/>
            <a:ext cx="10820095" cy="2558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amount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必須送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100.0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,不能送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100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—— engine 不接受把整數 JSON 字面值繫結到 Cedar 的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decimal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。四位小數是可以繫結的。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24418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guardrail 語句在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執行期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需要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action ==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限定範圍:沒有限定時它會以「guardrail policy could not be evaluated — missing an attribute」拒絕一切,即使它建立時是成功的。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72047"/>
            <a:ext cx="1082009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在手寫政策裡門檻值是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必填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的:沒有門檻的 guardrails 條件會以型別錯誤停在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CREATE_FAILED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,而同一語句加上明確的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.greaterThan(decimal("0.2"))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就能到 ACTIVE。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19677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兩項文件所載的限制被</a:t>
            </a:r>
            <a:r>
              <a:rPr sz="14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駁回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:驗證器接受了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guardrails {…}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區塊裡的 Cedar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like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,也接受了混用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{…}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與 </a:t>
            </a:r>
            <a:r>
              <a:rPr sz="14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when guardrails {…}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的政策 —— 每個 arm 四次終態 ACTIVE 接受,並在第二個 UTC 日重現。執行期行為仍未量測,所以「拆成兩條語句」的建議依然成立。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LOG_ONLY 有兩層,較弱的那一層勝出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強制執行是兩層的交集:只有 ENFORCE × ACTIVE 會真的拒絕。四格中有三格在生產環境看起來一樣,而且什麼都不會擋。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2041017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政策 enforcementMode =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3527" y="2041017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政策 enforcementMode = LOG_ONLY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81097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Engine 模式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ENFORCE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144137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Engine 模式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LOG_ONLY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2681097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強制執行</a:t>
            </a:r>
            <a:br/>
            <a:r>
              <a:rPr sz="10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請求被拒絕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527" y="2681097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只記錄</a:t>
            </a:r>
            <a:br/>
            <a:r>
              <a:rPr sz="10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什麼都不阻擋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4144137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只記錄</a:t>
            </a:r>
            <a:br/>
            <a:r>
              <a:rPr sz="10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什麼都不阻擋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3527" y="4144137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只記錄</a:t>
            </a:r>
            <a:br/>
            <a:r>
              <a:rPr sz="105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什麼都不阻擋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「什麼都不擋」不等於「什麼都看不到」:shadow 評估仍會以 ERROR 等級記錄 DENY/FORBID,在 log 搜尋裡看起來像是故障。任何 flip 次數的判讀都要先以 LogOnlyMatches &gt; 0 把關 —— LogOnlyEvalIncomplete 沒有發佈任何資料點,維度組合數為 0,它規定的告警根本無法觸發。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§4.1 · 表格出自 §6.4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拒絕在每個介面上看起來都不一樣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只以 JSON-RPC -32002 為判斷依據的偵測 —— 那是 v1.3 唯一描述的 —— 會漏掉這三個通道中的兩個。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6181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介面 / 通道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4539" y="1606677"/>
            <a:ext cx="81470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拒絕看起來的樣子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0141"/>
            <a:ext cx="26181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MCP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tools/call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4539" y="1890141"/>
            <a:ext cx="81470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200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+ JSON-RPC error </a:t>
            </a:r>
            <a:r>
              <a:rPr sz="1139" b="1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-32002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,"Tool Execution Denied: Tool call not allowed due to policy enforcement [Policy evaluation denied due to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&lt;policyId&gt;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]"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87905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8197"/>
            <a:ext cx="261815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Inference(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POST /inference/v1/messages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4539" y="2338197"/>
            <a:ext cx="814707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403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+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{"error":{"type":"permission_error","message":"Request Denied: Gateway Target request not allowed due to policy enforcement […]"}}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——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狀態碼不同、封裝不同、用字不同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7359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86253"/>
            <a:ext cx="261815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MCP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tools/list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4539" y="2786253"/>
            <a:ext cx="814707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完全沒有錯誤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:呼叫成功,並回傳一個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空的工具清單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(基線為三個工具)。工具探索被過濾,而不是失敗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102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在一個 gateway 上、一個日曆日觀察到,來自一次封存判定為 </a:t>
            </a:r>
            <a:r>
              <a:rPr sz="900" b="0" i="1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的執行。這些是線路上的觀察,不是 oracle 的輸出,也沒有任何正面主張建立在它們之上 —— 它們補上的是*偵測指引*的覆蓋缺口,而不是修正 v1.2 的任何斷言。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Hop #5 —— 工具請求與回應上的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雙向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評估內容:agent → 工具,以及工具 → agent。請求授權用 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/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效果;回應內容用 guardrail 防護。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與 Hop #1 相同的防護,套用在工具通訊上 —— 這正是阻止敏感資料經由工具回應外流的機制。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9382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agent 迴圈中的每一次工具呼叫都會加上它。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這就是成本來源:每一次額外的工具呼叫成本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約 850 ms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(CI [838.7, 862.7],n = 600 可用)—— 不是 v1.2 寫的 165–750 ms。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0690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經由工具回應的間接 prompt injection(BP#1)</a:t>
            </a:r>
            <a:r>
              <a:rPr sz="1400" b="1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照原文保留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:F5-5 的探測政策從未變成 ACTIVE,也沒有觀察到 echo 往返,所以那個抑制問題根本沒被問出來。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執行期的即時可觀測性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6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跨所有 agent 元件的 OpenTelemetry 相容分散式追蹤,把指標、span 與 trace 發佈到 CloudWatch。LLM 推論呼叫、工具呼叫與記憶體操作都會自動被擷取。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324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先啟用 CloudWatch Transaction Search。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追蹤關閉時,同樣的流量產生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0 個 span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;啟用後 span 就出現了。追蹤是真正的前置條件,不是加分項。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06320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Span 比請求晚約 50 秒。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任何要讀 span 來做決定的東西 —— 告警、閘門、測試 —— 都必須容忍這個延遲,否則它會讀到空結果,並把它當成乾淨的結果。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19399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 ADOT SDK 為自己的程式碼加上自訂 span;僅靠平台的 span 無法解釋你 agent 自己的決策。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五條繞過路徑與各自的封閉方式 —— 路徑 ① – 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只有當繞過它的每一條路徑都被封閉,一個 hook 才算不可繞過。引自 §4.4,在句子邊界處節錄。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5908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7269" y="1606677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繞過路徑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3215" y="1606677"/>
            <a:ext cx="6488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封閉方式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7269" y="1890141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 直接呼叫工具 API,跳過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3215" y="1890141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不要給 agent runtime 任何直接的工具憑證:工具只能作為 Gateway target 被觸及,而對外憑證存放在 AgentCore Identity 的 Token Vault(由 Gateway 逐次呼叫發放,從不存放於 runtime)。runtime execution role 不得帶有該工具底層 API 的 IAM 權限。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61641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46164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11933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7269" y="2511933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 程式碼發出任意網路呼叫(外洩 / 影子工具)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3215" y="2511933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網路圍堵:以 VPC 模式執行 Runtime,對外流量限制到 Gateway endpoint(加上必要的 AWS endpoint);Code Interpreter 用 Sandbox 或 VPC 模式(Sandbox 仍允許 DNS,是一個受限的外洩通道—— Accelerator 建議對敏感資料使用 Route 53 Resolver DNS Firewall 或 VPC 模式)。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8343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33725"/>
            <a:ext cx="59088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7269" y="3133725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 用它的 execution-role 憑證停用 policy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3215" y="3133725"/>
            <a:ext cx="648839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這是最關鍵的一條:session 內的任何程式碼都能透過 microVM metadata service 讀到 execution role 的憑證(Accelerator:「any code executing within a tool session can access these credentials」)。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705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五條繞過路徑與各自的封閉方式 —— 路徑 ④ – 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5908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7269" y="1275588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繞過路徑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3215" y="1275588"/>
            <a:ext cx="64883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封閉方式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59088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7269" y="1559052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帳戶內任何 principal 削弱強制執行(confused deputy、憑證洩漏)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3215" y="1559052"/>
            <a:ext cx="648839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帳戶層級後盾:用 SCP(或 permission boundary)拒絕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/ policy-engine 變更,只放行指定的 break-glass 管理角色。即使路徑 #3 的角色衛生退化,這一層仍然成立。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56816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9568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07108"/>
            <a:ext cx="59088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7269" y="2007108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強制執行靜默降級(逾時、設定錯誤、LOG_ONLY 忘了關)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3215" y="2007108"/>
            <a:ext cx="648839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Fail-secure 預設完成前半:Cedar 是預設拒絕,評估逾時回傳自動 DENY。 後半由你負責:生產環境永不讓 engine 停在 LOG_ONLY;對 CloudTrail 的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/政策變更事件告警。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0487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路徑 ③ 已確認:3 個工具 session 全部經由 microVM metadata service 讀到 execution role 的憑證。路徑 ⑤ 的後半是你的責任 —— 生產環境的 engine 永遠不要停在 LOG_ONLY,並對 CloudTrail 的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事件告警,而不是對某個模式值告警。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圍堵模式:Gateway 是通往工具的唯一路徑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2276856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 Runtime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不可信的模型輸出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+ 自己的程式碼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3048" y="2276856"/>
            <a:ext cx="2606040" cy="14173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22225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AgentCore Gateway</a:t>
            </a:r>
            <a:br/>
            <a:r>
              <a:rPr sz="10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Cedar permit / forbid</a:t>
            </a:r>
            <a:br/>
            <a:r>
              <a:rPr sz="105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Hop #4 · #5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0568" y="2276856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 target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(MCP · inference)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90888" y="2276856"/>
            <a:ext cx="2194560" cy="141732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Token Vault</a:t>
            </a:r>
            <a:br/>
            <a:r>
              <a:rPr sz="1050" b="0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憑證逐次呼叫發放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517136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① 直接呼叫工具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4517136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② 任意對外連線 / 影子工具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7848" y="4517136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③ 讀取 execution-role 憑證,停用 engine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01568" y="2985516"/>
            <a:ext cx="411480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19088" y="2985516"/>
            <a:ext cx="411480" cy="0"/>
          </a:xfrm>
          <a:prstGeom prst="line">
            <a:avLst/>
          </a:prstGeom>
          <a:ln w="2222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79408" y="2985516"/>
            <a:ext cx="411480" cy="0"/>
          </a:xfrm>
          <a:prstGeom prst="line">
            <a:avLst/>
          </a:prstGeom>
          <a:ln w="15875">
            <a:solidFill>
              <a:srgbClr val="146EB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510028" y="3694176"/>
            <a:ext cx="5394960" cy="822960"/>
          </a:xfrm>
          <a:prstGeom prst="line">
            <a:avLst/>
          </a:prstGeom>
          <a:ln w="15875">
            <a:solidFill>
              <a:srgbClr val="B31D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30468" y="3694176"/>
            <a:ext cx="1874520" cy="822960"/>
          </a:xfrm>
          <a:prstGeom prst="line">
            <a:avLst/>
          </a:prstGeom>
          <a:ln w="15875">
            <a:solidFill>
              <a:srgbClr val="B31D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813048" y="2985516"/>
            <a:ext cx="5943600" cy="1531620"/>
          </a:xfrm>
          <a:prstGeom prst="line">
            <a:avLst/>
          </a:prstGeom>
          <a:ln w="15875">
            <a:solidFill>
              <a:srgbClr val="B31D1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6928" y="6153912"/>
            <a:ext cx="146304" cy="91440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10819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強制路徑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9304" y="6153912"/>
            <a:ext cx="146304" cy="91440"/>
          </a:xfrm>
          <a:prstGeom prst="rect">
            <a:avLst/>
          </a:prstGeom>
          <a:solidFill>
            <a:srgbClr val="B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0472" y="610819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須封閉的繞過路徑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路徑 ③ 是最關鍵的一條,而且已被確認:3 個不同的工具 session 全部經由 169.254.169.254 的 microVM metadata service 讀到 runtime 自己的 execution role。實測只有一個日曆日,所以延後的是修訂,不是發現。路徑 ④(帳戶層級 SCP)與 ⑤(靜默降級)見 §4.4 的表格。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§4.5.2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Code Interpreter:三種網路模式,三種圍堵結論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Sandbox 模式不是隔離:它仍允許 DNS,那是一個受限但真實存在的外洩通道。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16966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3053" y="1606677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可觸及範圍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8999" y="1606677"/>
            <a:ext cx="5382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圍堵評價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16966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053" y="189014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不受限的網際網路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999" y="1890141"/>
            <a:ext cx="538261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僅限開發/測試——被 prompt injection 的 agent 可自由外洩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1696669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3053" y="2164461"/>
            <a:ext cx="3539642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僅 S3 + DNS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8999" y="2164461"/>
            <a:ext cx="5382615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較好,但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DNS 是一個真實的外洩通道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—— Accelerator 自己的話:「DNS queries represent a limited data channel — organizations processing sensitive data should evaluate whether VPC Mode provides a stronger security boundary.」請用 Route 53 Resolver DNS Firewall 緩解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096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9989"/>
            <a:ext cx="169666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VPC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3053" y="2959989"/>
            <a:ext cx="353964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只有你的 subnet/SG 允許的範圍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8999" y="2959989"/>
            <a:ext cx="538261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最強的邊界。ENI 透過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AWSServiceRoleForBedrockAgentCoreNetwork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service-linked role 建立;必要 endpoint:ECR、S3、CloudWatch Logs;仍建議用 DNS Firewall 防 DNS 外洩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3148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§4.5.3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PrivateLink 覆蓋範圍(附日期)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在設計私有網路部署之前先查這張表 —— 而且要自己再查一次,因為它會變。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48799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原語(見表頭註記)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6370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資料平面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2144" y="1606677"/>
            <a:ext cx="28694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控制平面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487998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Runtime、Memory、Built-in Tools、Identity、Gateway、Policy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6370" y="1890141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2144" y="1890141"/>
            <a:ext cx="28694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487998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Evaluations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6370" y="216446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AWS 文件於 2026-08-09/10 記載為 Supported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(v1.2 說 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2144" y="2164461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2517"/>
            <a:ext cx="4879986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6370" y="261251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AWS 文件於 2026-08-09/10 記載為 Supported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(v1.2 說 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144" y="2612517"/>
            <a:ext cx="28694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AWS 文件於 2026-08-09/10 記載為 Supported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(v1.2 說 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102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這張矩陣在量測下改變了。五份有日期的存檔快照(2026-04-12 → 2026-07-14)與 v1.2 一致,都說 Evaluations「尚未支援」,但 2026-08-09 </a:t>
            </a: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與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2026-08-10 的線上頁面都把 Evaluations 與 Optimization 標為兩個平面皆支援。表頭也從「Service」修正為「Primitive」:列名指的是 AgentCore 原生元件,而 PrivateLink 是掛在 endpoint service 上的。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網路圍堵:VPC 模式、對外白名單,以及沒人預期的 DNS 洩漏通道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28216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5312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客戶 VPC —— 私有子網,沒有 internet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227685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Runtime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VPC 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351129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Code Interpreter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Sandbox 或 VPC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27685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Route 53 Resolver</a:t>
            </a:r>
            <a:br/>
            <a:r>
              <a:rPr sz="10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DNS Firewall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3511296"/>
            <a:ext cx="23317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S3 Gateway endpoint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(session 儲存)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2093976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1B2631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對外</a:t>
            </a:r>
            <a:br/>
            <a:r>
              <a:rPr sz="10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白名單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7" y="2093976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AgentCore Gateway endpoint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7" y="2862072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模型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7" y="3630168"/>
            <a:ext cx="260604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7" y="4398264"/>
            <a:ext cx="260604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CloudWatch Logs · X-Ray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10128" y="2779776"/>
            <a:ext cx="3246120" cy="82296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10128" y="3602736"/>
            <a:ext cx="3246120" cy="411479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59367" y="2423160"/>
            <a:ext cx="320040" cy="1179576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59367" y="3191256"/>
            <a:ext cx="320040" cy="41148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59367" y="3602736"/>
            <a:ext cx="320040" cy="356616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59367" y="3602736"/>
            <a:ext cx="320040" cy="1152144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Sandbox 模式仍允許 DNS,那是一個受限的外洩通道 —— 這就是要 DNS Firewall 的原因。強制走 VPC 部署是 IAM 的工作(在部署角色上加 VPC 條件鍵),不是連線設定的工作。F5-7b 想量測對外連線是否真的把關 image pull,結果是 </a:t>
            </a:r>
            <a:r>
              <a:rPr sz="900" b="0" i="1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:三個 arm 全部在客戶端逾時,彼此只差 9 ms,等於什麼都沒讀到。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階段 3:AFTER —— 輸出安全與持續改善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輸出檢查點,接著是大多數設計從未建造的那一段:把生產環境的行為回饋到政策裡的閉環。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§5.1 輸出評估(Hop #6)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§5.2 持續評估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§5.3 最佳化反饋閉環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輸出評估:會讓人意外的是串流那一條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85416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InvokeModel /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Converse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2968" y="2185416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完整回應組裝完成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2185416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Hop #6 評估</a:t>
            </a:r>
            <a:br/>
            <a:r>
              <a:rPr sz="105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整段文字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5128" y="2185416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使用者看到全部或什麼都看不到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14215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ConverseStream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2968" y="4014215"/>
            <a:ext cx="2788920" cy="96012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chunk 逐步抵達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4014215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Hop #6 逐 buffer</a:t>
            </a:r>
            <a:br/>
            <a:r>
              <a:rPr sz="10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評估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4014215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使用者可能先看到文字,然後被阻擋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07208" y="26654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61888" y="26654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59367" y="2665476"/>
            <a:ext cx="365761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07208" y="44942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61888" y="4494276"/>
            <a:ext cx="36576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59367" y="4494276"/>
            <a:ext cx="365761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v1.2 說「Automated Reasoning 不支援串流」已撤回:ConverseStream 接受 guardrailConfig,SDK 也定義了 132 條 AR assessment 路徑。串流「模式」那項主張(BP#1)照原文保留 —— F1-12 是 </a:t>
            </a:r>
            <a:r>
              <a:rPr sz="900" b="0" i="1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,而 </a:t>
            </a:r>
            <a:r>
              <a:rPr sz="900" b="0" i="1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不授權任何修訂。推理 / chain-of-thought 區塊:兩種擺放方式都被 ValidationException 拒絕,所以它們是否被評估仍未實測。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§5.2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持續評估:三種模式,以及哪一種是給生產環境用的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即時(on-demand)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—— 直接分析你挑選的一組 span。這是開發與抽查用的模式,回答的是「這個 session 發生了什麼?」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批次(batch)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—— 在一個非同步作業中對大量 agent session 執行評估器。這是回歸測試模式:在政策或 prompt 變更上線前執行它。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48688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線上(online)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—— 持續對「線上生產」互動取樣(依比例,例如 10%),不需要手動觸發。這一種才能抓到你沒預測到的漂移。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1038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在私有網路啟用 Evaluations 之前,先確認 PrivateLink 狀態。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AWS 目前的線上頁面把 Evaluations 與 Optimization 記為兩個平面皆支援 PrivateLink —— 這是相對於 v1.2 的變更,日期為 2026-08-09/10,並已重現。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23464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✓ </a:t>
            </a:r>
            <a:r>
              <a:rPr sz="14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這裡的能力清單 —— 有哪些模式、各自做什麼 —— 已確認與原文一致。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§5.3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最佳化反饋閉環 —— 是什麼讓閉環閉合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分析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生產環境的 trace 與評估輸出。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86992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產生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最佳化後的系統 prompt 或工具描述(Recommendations)。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48688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在任何東西碰到流量之前,先用批次評估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離線驗證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10384"/>
            <a:ext cx="1105783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以線上流量做 A/B 測試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確認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,透過 Gateway 的流量分流。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72080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然後把結果回饋到門檻值、Cedar 政策與 prompt —— 這就是架構圖上那條虛線箭頭,也是這個設計之所以被稱為閉環的唯一理由。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78912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即使你什麼都沒改,也要定期重跑 guardrail 回歸測試集。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AWS 會自行更新底層的 guardrail 模型,不需要你做任何事,所以「我們沒動過它」不是可以預期行為不變的理由。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91992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自動更新造成漂移的指引本身</a:t>
            </a:r>
            <a:r>
              <a:rPr sz="1400" b="1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照 v1.2 原文保留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—— F3-11 是 </a:t>
            </a:r>
            <a:r>
              <a:rPr sz="140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,+7 天與 +30 天的日期比對仍待補。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逐 Hop 的延遲監控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實測的預算、真正會發佈資料點的指標、trace 的形狀,以及真的能觸發的告警。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§6.1 延遲預算(實測)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§6.2 每個 hop 的 CloudWatch 指標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§6.3 分散式追蹤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§6.4 告警策略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§6.1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延遲預算(實測)—— 每 hop n = 1000,us-east-1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這就是 v1.2 寫錯的那張表。每一個粗體數字都取代了一個估算值,而「已推翻」標記是逐 hop 的判定,不是一般性的免責聲明。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46634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35632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Hop 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709" y="1606677"/>
            <a:ext cx="18642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檢查點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3225" y="1606677"/>
            <a:ext cx="13615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服務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112" y="1606677"/>
            <a:ext cx="23668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實測延遲(p50 / p90 / p99)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4257" y="1606677"/>
            <a:ext cx="18642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v1.2 估計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4773" y="1606677"/>
            <a:ext cx="23668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監控指標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0227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73021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709" y="2073021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Guardrail(輸入)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3225" y="2073021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Gateway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1112" y="2073021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401 / 528 / 779 ms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(p50 CI [396, 406])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4257" y="2073021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50–200ms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已推翻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4773" y="2073021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Latency + GuardrailLatency(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AWS/Bedrock-AgentCore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470784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4707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521077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2709" y="2521077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Guardrail(輸入)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3225" y="2521077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1112" y="2521077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231 / 374 / 622 ms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(p50 CI [226, 235])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4257" y="2521077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100–500ms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已推翻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(p99 超出區間)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4773" y="2521077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InvocationLatency(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AWS/Bedrock/Guardrails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namespace)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1884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69132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2709" y="2969132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模型推論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3225" y="2969132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1112" y="2969132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500ms–30s *(未單獨重新量測;沿用 v1.2)*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4257" y="2969132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500ms–30s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4773" y="2969132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InvocationLatency(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AWS/Bedrock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namespace,依模型)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36689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33668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17188"/>
            <a:ext cx="35632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2709" y="3417188"/>
            <a:ext cx="186421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工具授權(Cedar Policy)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3225" y="3417188"/>
            <a:ext cx="136158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Policy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1112" y="3417188"/>
            <a:ext cx="236684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55 / 70 / 94 ms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(p50 CI [54, 56])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4257" y="3417188"/>
            <a:ext cx="186421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5–50ms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已推翻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4773" y="3417188"/>
            <a:ext cx="236684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Policy 調用 span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6412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691508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2709" y="3691508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 Guardrails(每次呼叫)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3225" y="3691508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Gateway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1112" y="3691508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401 / 528 / 779 ms × N 次呼叫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(p50 CI [396, 406])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4257" y="3691508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50–200ms × N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已推翻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4773" y="3691508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GuardrailLatency(ToolName 維度)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089272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08927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139564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2709" y="4139564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Guardrail(輸出)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3225" y="4139564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1112" y="4139564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234 / 366 / 662 ms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(p50 CI [228, 238])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4257" y="4139564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100–500ms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已推翻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(p99 超出區間)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4773" y="4139564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guardrailProcessingLatency(調用 trace)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45373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587620"/>
            <a:ext cx="35632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1142709" y="4587620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總計(單次工具呼叫)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53225" y="4587620"/>
            <a:ext cx="136158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4661112" y="4587620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1483 / 1722 / 2107 ms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(p50 CI [1474, 1491])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4257" y="4587620"/>
            <a:ext cx="186421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~800ms–31s+ 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已確認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4773" y="4587620"/>
            <a:ext cx="23668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端到端 trace duration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9853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端到端總計</a:t>
            </a: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已確認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,即使六個組成中有五個被推翻:v1.2 的 ~800 ms–31 s 區間寬到足以容納實測的 1483 ms p50。用錯的零件得出對的總和,這一點值得直說,而不是把整張表呈現為全錯。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AgentCore Gateway 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889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4904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889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初始回應時間——從收到請求到第一個回應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904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量測含 guardrail/政策評估的 gateway 處理時間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889" y="183337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端到端總處理時間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4904" y="183337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整個 gateway 跳的延遲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05740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10769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889" y="210769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對資料平面 API 的請求總數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904" y="210769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流量追蹤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3172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33172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38201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TargetExecutionTime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889" y="238201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執行 target(Lambda/OpenAPI 等)的時間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4904" y="238201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從總 Latency 中隔離出 target 的貢獻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60603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65633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Throttles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889" y="265633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被限流的請求(HTTP 429)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904" y="265633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容量規劃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88035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88035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93065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SystemErrors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889" y="293065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以 5xx 失敗的請求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904" y="293065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可用性監控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15467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20497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UserErrors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1889" y="320497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以 4xx 失敗的請求(429 除外)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4904" y="320497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客戶端錯誤監控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42899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AgentCore Policy 指標 —— 包含那些什麼都不發佈的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889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4904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889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政策內 guardrail 評估所花的時間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904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#1/#5 延遲隔離。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有發布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ConfidenceScore / ConfidenceThreshold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889" y="183337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文件記載為每次評估的觀測分數與所設閾值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4904" y="1833372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⚠️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實測為缺席——兩個指標都沒有發布任何資料點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,即使流量確實產生了分數。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不要把閾值校準指向這裡。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1428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AllowDecisions / DenyDecisions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889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授權結果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904" y="2281428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拒絕率追蹤。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兩者皆有發布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5054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555748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SuppressOutputs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889" y="2555748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被 suppressOutput 效果抑制的工具輸出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4904" y="2555748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#5 過濾率。*(其發布條件從未被本驗證觸發——屬未經測試,不是已確認缺席。)*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95351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03803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LogOnlyMatches / LogOnlyDecisionFlips / LogOnlyEvalIncomplete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889" y="3003803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LOG_ONLY 政策的「本應相符」、與 ACTIVE 政策相比的決策變化,以及未完成的評估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904" y="3003803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LogOnlyMatches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與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LogOnlyDecisionFlips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有發布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401567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401567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51859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MismatchErrors / TotalMismatchedPolicies / PolicyMismatch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889" y="3451859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因缺少屬性或型別不符而失敗的 guardrail 評估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904" y="3451859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這些確實會發火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。 v1.3 對如何解讀它們有兩項更正。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4962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99915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Policy span(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aws/spans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log group)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1889" y="3899915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逐操作的評估細節(AuthorizeAction 等)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4904" y="3899915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Trace 層級的逐跳分析。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已確認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2394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、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與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TemporalLatency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實測</a:t>
            </a: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不存在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—— 在任何維度組合下都沒有資料點。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從未發佈,維度組合數為 0,所以 v1.2 為它規定的告警無法觸發。若要保留它,請把「缺資料」視為違規,並加上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LogOnlyMatches &gt; 0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作為正向把關。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Bedrock Guardrails 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1889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4904" y="1275588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889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 API 請求數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4904" y="155905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流量追蹤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889" y="183337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 評估的延遲(ApplyGuardrail 操作)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4904" y="183337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獨立呼叫的 guardrail 開銷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05740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10769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InvocationsIntervened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889" y="210769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 採取行動的調用次數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904" y="210769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阻擋/遮罩率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33172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33172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38201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TextUnitCount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889" y="238201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已處理的 text unit 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4904" y="238201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成本追蹤(計費按 text unit)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60603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656332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InvocationClientErrors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91889" y="265633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客戶端錯誤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904" y="265633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錯誤率監控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88035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88035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93065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InvocationServerErrors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91889" y="293065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伺服器端錯誤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4904" y="293065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可用性監控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15467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20497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InvocationThrottles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91889" y="320497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被限流的請求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4904" y="320497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容量規劃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42899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Bedrock Runtime 與 AgentCore Runtime session 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§6.2 的兩張短表併在一起 —— 先是 Bedrock Runtime,再是 Runtime session。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889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說明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904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889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完整推論請求時間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904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模型推論 duration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OutputTokensPerSecond(OTPS)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889" y="216446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Token 產生吞吐量。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904" y="216446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區分「模型端吞吐退化」與「輸出變長」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8848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3878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Session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889" y="243878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端到端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904" y="243878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使用者感知到的總延遲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6280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662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13100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Token 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889" y="271310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每個 session 消耗的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904" y="271310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成本追蹤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37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87420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Error rates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1889" y="298742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每個 session 的失敗數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4904" y="298742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可靠性監控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1144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追蹤樹裡實際上有什麼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9344"/>
            <a:ext cx="7360920" cy="388620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73352"/>
            <a:ext cx="71414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一個 session · 5 種 operation · InvokeTool 與 AuthorizeAction 一對一配對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2093976"/>
            <a:ext cx="67208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AgentCore.Gateway.Initialize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2752344"/>
            <a:ext cx="67208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AgentCore.Gateway.NotificationsInitialized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3410711"/>
            <a:ext cx="67208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AgentCore.Gateway.InvokeTool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4069080"/>
            <a:ext cx="62179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AgentCore.Gateway.InvokeTool.&lt;toolName&gt;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81328" y="4727448"/>
            <a:ext cx="621792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AgentCore.Policy.AuthorizeAction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5048" y="2093976"/>
            <a:ext cx="3200400" cy="14173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每個 span 都有:aws.request.id · authorization_decision · determining_policies[] · latency_ms / overhead_latency_ms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5048" y="3648456"/>
            <a:ext cx="3200400" cy="100584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 w="12700">
            <a:solidFill>
              <a:srgbClr val="B3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沒有:任何 guardrail 分數、ConfidenceScore、ConfidenceThreshold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4791456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 w="12700">
            <a:solidFill>
              <a:srgbClr val="9A5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Span 比請求晚約 50 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request-id 的關聯是實測的,不是假設:250 個 span 的 aws.request.id 有 242 個(96.8%)對上客戶端觀察到的 x-amzn-requestid。對不上的 8 個是 Initialize span,它們的 request id 從未被當作 trial 記錄。要先啟用 CloudWatch Transaction Search —— 關閉追蹤時,同樣的流量產生 0 個 span。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§6.4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告警策略 —— 以及每個告警都需要的週期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這七個告警中有六個在 v1.2 裡完全沒有寫週期,照原文是無法實作的。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32561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告警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2492" y="1606677"/>
            <a:ext cx="32561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904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行動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guardrail 延遲尖峰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2492" y="189014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Latency &gt; P99 + 50%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904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檢查 guardrail 設定的複雜度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 延遲尖峰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2492" y="216446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InvocationLatency &gt; P99 + 50%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904" y="216446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檢查輸入尺寸是否變大或發生限流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38848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43878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端到端 session 延遲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2492" y="2438781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總 duration &gt; SLA 閾值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904" y="243878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透過 trace 找出瓶頸所在的跳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66280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2662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1310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 限流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2492" y="271310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InvocationThrottles &gt;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904" y="271310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申請提高配額或降低呼叫量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937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98742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高拒絕率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2492" y="2987420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 分鐘內阻擋率 &gt; 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4904" y="2987420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調查是否遭攻擊或閾值設定錯誤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11448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21144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61740"/>
            <a:ext cx="325610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LOG_ONLY 評估未完成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2492" y="3261740"/>
            <a:ext cx="325610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⚠️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LogOnlyEvalIncomplete &gt; 0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無法發火——此指標未發布任何資料點,且在本帳戶列出 0 個維度組合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4904" y="3261740"/>
            <a:ext cx="410671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不要照原樣依賴這個告警:對一個從未發布的指標設 CloudWatch 告警,它會停在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INSUFFICIENT_DATA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而非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ALARM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3324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83532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Policy engine mode 變更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2492" y="3883532"/>
            <a:ext cx="325610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CloudTrail UpdateGateway 事件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4904" y="3883532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確認該變更經過授權(3.1 節 BP#5)。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1075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980176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6025896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每個週期都設 ≥ 60 秒。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實測指標發佈延遲 p90 = 11.5 秒(n = 30),週期更短的告警是在對「空隙」告警,而不是對行為告警。設定變更請透過 CloudTrail 的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呼叫來告警 —— 不要對模式值告警,它無法可靠讀取。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最佳實務:在有 Guardrails 的前提下優化延遲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七項設計原則、九項反模式,以及一份逐 hop 的政策分配,讓你不必為同一道檢查付兩次錢。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§7.1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設計原則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引自 §7.1,在句子邊界處節錄。原則 #3 的前提在實測後已重新界定範圍。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6435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9925" y="1606677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原則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9153" y="1606677"/>
            <a:ext cx="617246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64354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925" y="1890141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依風險分層 guardrails,不要依功能分層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9153" y="1890141"/>
            <a:ext cx="617246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不是每個檢查點都需要每一項政策。請讓 guardrail 的範圍對應每一跳的實際風險。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9925" y="2164461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在最外層快速失敗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9153" y="2164461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 Gateway(Hop #1)阻擋明顯有害的內容,以避免不必要的下游處理——並注意計費不對稱:輸入端阻擋完全免除模型推論費用,輸出端阻擋則不會 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12517"/>
            <a:ext cx="64354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9925" y="2612517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授權請用決定性控制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9153" y="2612517"/>
            <a:ext cx="617246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就工具層級存取控制而言,Cedar Policy(Hop #4)比 guardrails 更快且更可靠。 Cedar 是決定性的,且 fail-secure(逾時 → DENY) 。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「更快」是實測的,而且差距很大: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Cedar 授權 p50 55 ms,對比 gateway guardrail 評估 p50 401 ms 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84016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8401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34308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9925" y="3234308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獨立監控每一跳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9153" y="3234308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端到端延遲會掩蓋是哪一跳在退化。請對每個檢查點使用分散式追蹤 span 與逐跳指標(6.2 節)。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63207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682364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9925" y="3682364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跨層去除重複政策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9153" y="3682364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若 Gateway Guardrails 已處理 prompt attack,就不要在模型層重複同樣的檢查——但務必先確認區域可用性(Hop #1)與 input tagging(Hop #2),以免去重反而製造缺口。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80128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080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30420"/>
            <a:ext cx="64354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9925" y="4130420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高吞吐量請批次化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79153" y="4130420"/>
            <a:ext cx="617246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ApplyGuardrail API 呼叫請用 content 陣列批次化。把快取當成最後手段,並施加嚴格限制(3.3 節 BP#1)。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5281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578476"/>
            <a:ext cx="64354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9925" y="4578476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為每一跳設定延遲預算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9153" y="4578476"/>
            <a:ext cx="617246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為每個檢查點定義可接受的延遲,並在超出時告警。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80250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「guardrail 評估是非確定性的」這個前提已不再承載建議:在三個案例、各 n = 300 的固定輸入下,都沒有觀察到跨次執行的變異。AWS 文件上的陳述保留 —— 只是本文件不再把建議*建立*在已觀察到的變異上。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門檻值調校(已修正):分數在應用程式 log 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1 · 以 LOG_ONLY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部署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(shadow 模式)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2 · 從應用程式 log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讀取分數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—— 不是 CloudWatch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3 · 先用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LogOnlyMatches &gt; 0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把關,再看 flip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4 · 依觀察到的分佈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選定門檻值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4624" y="2414016"/>
            <a:ext cx="20116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5 · 切到 ACTIVE,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並明確給定</a:t>
            </a:r>
            <a:br/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validationMode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28032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77456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3259836"/>
            <a:ext cx="237744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70463" y="4105656"/>
            <a:ext cx="320040" cy="86868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572768" y="4974336"/>
            <a:ext cx="9317735" cy="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572768" y="4105656"/>
            <a:ext cx="0" cy="868680"/>
          </a:xfrm>
          <a:prstGeom prst="line">
            <a:avLst/>
          </a:prstGeom>
          <a:ln w="15875">
            <a:solidFill>
              <a:srgbClr val="FF9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" y="4882896"/>
            <a:ext cx="2976372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892040"/>
            <a:ext cx="29763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隨流量與模型變化重新調校 —— AWS 會自行更新 guardrail 模型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body.policy.guardrailFindings.&lt;policy&gt;.contentFilter[].score,而且它是 JSON </a:t>
            </a: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字串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。低於門檻的 finding 會被截除 —— 你看到的是越線的那些,不是完整分佈。在找到它之前有三次嚴謹的探測都報告「不存在」,因為三次都只調查了文件點名的介面。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§7.2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應避免的反模式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每一列都是一種「看起來很負責」但代價是延遲、安全、或兩者兼具的做法。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反模式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9308" y="1606677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8690" y="1606677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建議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在「每一跳」啟用「所有」guardrail 政策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9308" y="1890141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延遲過度累積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8690" y="1890141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每一跳只套用最低必要的政策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38029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 guardrails 做工具授權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9308" y="2164461"/>
            <a:ext cx="3013078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機率性偵測且有實測缺口(例如 31 種 PII entity type 中 9 種被推翻、PROMPT_LEAKAGE 合併 recall 0.36)——而且可被 prompt injection 繞過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8690" y="2164461"/>
            <a:ext cx="38029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 Cedar Policy 做決定性授權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096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59989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ENFORCE 模式下只有 guardrail 政策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9308" y="2959989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預設拒絕會在沒有明確 permit 的情況下阻擋「所有」流量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8690" y="2959989"/>
            <a:ext cx="380292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一律加入一條基線 permit 政策——並以明確的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建立它,否則 create 會靜默地停在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CREATE_FAILED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(3.1 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31488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53148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81780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沒有可觀測性儀器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9308" y="3581780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無法找出延遲瓶頸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8690" y="3581780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從第一天就啟用完整的分散式追蹤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80580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56100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所有內容用同一組 guardrail 閾值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9308" y="3856100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過度阻擋正當內容,或阻擋不足而放過有害內容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8690" y="3856100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依跳與內容類型分別調校閾值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801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§7.2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應避免的反模式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反模式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9308" y="1275588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8690" y="1275588"/>
            <a:ext cx="38029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建議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忽略 guardrail 限流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9308" y="1559052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負載下的靜默失效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8690" y="1559052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監控 InvocationThrottles 並實作重試/退避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對回傳外部內容的工具跳過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9308" y="1833372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工具回應是間接 prompt injection 的主要載體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8690" y="1833372"/>
            <a:ext cx="380292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對不可信的工具輸出套用 prompt-attack + content guardrails(4.2 節)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1428"/>
            <a:ext cx="38029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對非 EN/FR/ES 流量使用 Classic tier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9308" y="2281428"/>
            <a:ext cx="3013078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「不支援的語言,guardrails 形同無效」——實測:Classic tier 對 zh/ja/ko 攻擊內容的偵測率在 n=216 時為 0 [0, 0.0175],而且失效是靜默的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8690" y="2281428"/>
            <a:ext cx="3802924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 Standard tier(並為它的跨區域推論要求做好規劃)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26663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02666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76956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只做人工提示詞最佳化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9308" y="3076956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慢、不一致、非證據導向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8690" y="3076956"/>
            <a:ext cx="38029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 AgentCore Optimization 做自動化改善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300983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節流那條反模式</a:t>
            </a:r>
            <a:r>
              <a:rPr sz="900" b="1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未被確認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:F9-3 在文件所載 100 rps 上限之下實際達到 182.2 rps,480 個回應中有 0 個被節流,所以「靜默放行」的問題根本沒被問出來。那條建議建立在推理上,不是建立在量測上。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§7.3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各 hop 建議的 guardrail 分配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分配的重點是:在能看到該風險的最便宜 hop 上檢查它 —— 之後不要再檢查一次。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4055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889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建議政策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4904" y="1606677"/>
            <a:ext cx="41067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理由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0141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Gateway(輸入)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889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Prompt Attack(HIGH 閾值)、Content Filter(MEDIUM)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4904" y="1890141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快速地提早阻擋明顯威脅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14169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64461"/>
            <a:ext cx="2405505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Guardrails(輸入)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889" y="2164461"/>
            <a:ext cx="410671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Denied Topics、Sensitive Info、Content Filter(細緻)、Prompt Attack(需 input tagging ——未加 tag 的 InvokeModel 輸入確實沒有被掃描:n=120 時 recall 為 0 [0, 0.031]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904" y="2164461"/>
            <a:ext cx="410671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 gateway 過濾之後做全面的輸入安全檢查——但請驗證你實際依賴的那些 PII entity type;31 種有文件記載的類型中有 9 種被推翻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73596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86253"/>
            <a:ext cx="2405505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Cedar Policy(工具授權)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889" y="2786253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工具層級 allow/deny、參數驗證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904" y="2786253"/>
            <a:ext cx="4106711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決定性授權——沒有 ML 開銷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10281"/>
            <a:ext cx="11057839" cy="969263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01028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60573"/>
            <a:ext cx="2405505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 I/O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889" y="3060573"/>
            <a:ext cx="4106711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Sensitive Info(工具回應上的 PII);對外部/不可信工具回應做 Prompt 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4904" y="3060573"/>
            <a:ext cx="4106711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降低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——而非防止——資料外洩與來自工具輸出的間接 prompt injection,且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本研究並未量測這個降低幅度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:沒有任何案例觀察到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suppressOutput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抑制輸出(F1-17 為 </a:t>
            </a:r>
            <a:r>
              <a:rPr sz="1139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,靜態 API 表面讀取,未調用任何 operation),也沒有任何案例量測工具輸出上的 prompt-attack 偵測。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9795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29836"/>
            <a:ext cx="240550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Guardrails(輸出)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1889" y="4029836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Content Filter、Sensitive Info、Contextual Grounding(在其字元上限內)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4904" y="4029836"/>
            <a:ext cx="410671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使用者看到回應之前的最終安全檢查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42760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實作檢查清單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四個階段。粗體的項目,是照 v1.2 逐字照做會出錯的地方。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§8 階段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階段 1 —— 基礎建置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在寫任何政策程式之前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把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/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boto3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釘在 ≥ 1.43.32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—— 1.43.30–.31 露出的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InvokeGuardrailChecks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沒有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enforcementMode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,而隨附的 AWS CLI v2 完全沒有 policy-engine 子命令。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8376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建立 Bedrock Guardrail 資源,並設定各方向的輸入/輸出。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45208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依流量語言確認 tier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—— 非 EN/FR/ES 的流量必須用 Standard,並確認資料落地要求允許 Standard 強制的跨 Region 推論。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也要測試你自己的 denied-topic 定義長度: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文件所載 Standard 的 1,000 字上限被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ValidationException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拒絕。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58288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建立帶 Policy Engine 的 Gateway —— 並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在你自己的 Region 確認 Guardrails-in-policy。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不要照 v1.2 的五 Region 清單規劃;它已被駁回,但「建立被接受」只代表控制平面,而且 ap-southeast-1 從未被探測。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71368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在啟用 ENFORCE 之前寫好明確的基線 permit 政策,並明確給定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請輪詢政策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status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;202 不代表成功。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378200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定義工具授權的 Cedar 政策,並在 Gateway 政策中設定 guardrails —— 手寫政策中門檻值是必填的。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85032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凡是預期在模型層做 prompt 攻擊過濾的地方都要設定 input tagging(隨機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tagSuffix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)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—— 未加標記的 recall 實測為 0 [0, 0.031]。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9186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套用網路圍堵(§4.5):Runtime 用 VPC 模式加對外白名單、Code Interpreter 用 Sandbox/VPC 加 DNS Firewall、在部署用的 IAM 角色上加 VPC 條件鍵。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50494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啟用 CloudWatch Transaction Search,再啟用 AgentCore Observability 追蹤,然後用 ADOT 為自己的程式碼加上自訂 span。Span 約延遲 50 秒。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§8 階段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階段 2 —— 監控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719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建立逐 hop 的延遲儀表板(GuardrailLatency、InvocationLatency、guardrailProcessingLatency)。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不要加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或 </a:t>
            </a:r>
            <a:r>
              <a:rPr sz="1400" b="1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—— 兩者都沒有發佈任何資料點。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任何 mismatch 指標請在單一固定維度組合下畫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SampleCount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,不要跨維度用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,那會讀到請求數的 6 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4462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為每個檢查點設定告警,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週期 ≥ 60 秒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(實測發佈延遲 p90 = 11.5 秒),並以 CloudTrail 的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UpdateGateway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呼叫為鍵對設定變更告警,而不是對模式值告警。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770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讓政策拒絕的偵測具備介面意識: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同時比對 MCP 的形狀(HTTP 200 + JSON-RPC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-32002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)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與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inference 的形狀(HTTP 403 +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permission_error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),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並且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檢查對外宣告的工具數量 —— 在 forbid 生效時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tools/list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會成功並回傳空清單,不會產生任何可告警的錯誤。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70784"/>
            <a:ext cx="1105783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!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無法照 v1.2 規定的方式使用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—— 它沒有發佈任何資料,維度組合數為 0。若要保留它,請把缺資料視為違規,並改用 </a:t>
            </a:r>
            <a:r>
              <a:rPr sz="1400" b="0" i="0">
                <a:solidFill>
                  <a:srgbClr val="B31D1D"/>
                </a:solidFill>
                <a:latin typeface="Courier New"/>
                <a:ea typeface="Courier New"/>
                <a:cs typeface="Courier New"/>
              </a:rPr>
              <a:t>LogOnlyMatches &gt; 0</a:t>
            </a:r>
            <a:r>
              <a:rPr sz="1400" b="0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 作為正向把關。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83863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設定 guardrail 專屬指標(呼叫次數、延遲、throttle、InvocationsIntervened、TextUnitCount),並在所有元件上啟用分散式追蹤。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90695"/>
            <a:ext cx="11057839" cy="306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4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在需要之前就先寫好延遲突增的調查 runbook。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§8 階段 3–4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階段 3 與 4 —— 最佳化與維運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5336895" cy="365760"/>
          </a:xfrm>
          <a:prstGeom prst="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階段 3 —— 最佳化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2821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啟用 AgentCore Evaluations(線上模式)做持續品質評估 —— 若在私有網路,先確認 PrivateLink 狀態。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11832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為每個 hop 建立延遲基線 —— 你無法用估算值去偵測回歸。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393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品質下降時執行 Optimization Recommendations,並在 A/B 測試前用批次評估驗證。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7548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透過 Gateway 流量分流實作 A/B 測試。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79648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記錄每一輪最佳化與每一次門檻值調校的決策 —— 包含被你回退的那些。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7871" y="1225296"/>
            <a:ext cx="5336895" cy="365760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階段 4 —— 維運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172821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每季檢視 guardrail 政策並移除多餘的檢查 —— 每一道重複的檢查都是你付兩次的延遲。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7871" y="2211832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隨模型與流量型態變化持續監控延遲趨勢。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250393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新增工具時同步更新 Cedar 政策 —— 沒有政策的新工具會被預設拒絕,那是安全的,但看起來像故障。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2987548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依觀察到的誤報率與漏報率重新檢視門檻值。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3279648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定期重跑 guardrail 回歸測試集 —— AWS 會在你什麼都沒做的情況下自行更新底層模型。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09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參考架構:完整閉環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所有 hop、所有指標介面,以及反饋路徑 —— 在一頁上。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參考架構:完整閉環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82496"/>
            <a:ext cx="10945368" cy="1828800"/>
          </a:xfrm>
          <a:prstGeom prst="roundRect">
            <a:avLst>
              <a:gd name="adj" fmla="val 3000"/>
            </a:avLst>
          </a:prstGeom>
          <a:solidFill>
            <a:srgbClr val="F3F6F9"/>
          </a:solidFill>
          <a:ln w="1143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46504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請求路徑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85615"/>
            <a:ext cx="10945368" cy="1600200"/>
          </a:xfrm>
          <a:prstGeom prst="roundRect">
            <a:avLst>
              <a:gd name="adj" fmla="val 3000"/>
            </a:avLst>
          </a:prstGeom>
          <a:solidFill>
            <a:srgbClr val="E7F4EA"/>
          </a:solidFill>
          <a:ln w="1143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849624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回應路徑 + 反饋閉環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85416"/>
            <a:ext cx="14630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使用者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2185416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185416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輸入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4808" y="2185416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模型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推論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185416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Cedar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8128" y="2185416"/>
            <a:ext cx="14173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Hop #5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4288536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E7F4EA"/>
          </a:solidFill>
          <a:ln w="12700">
            <a:solidFill>
              <a:srgbClr val="1E7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輸出 guardrail —— Hop #6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4288536"/>
            <a:ext cx="26060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CloudWatch 指標 · span · 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288536"/>
            <a:ext cx="24231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Evaluations</a:t>
            </a:r>
            <a:br/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即時 · 批次 · 線上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4288536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Optimization 建議 → A/B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284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2452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3620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39328" y="2756916"/>
            <a:ext cx="22860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85248" y="2756916"/>
            <a:ext cx="18288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81528" y="4768596"/>
            <a:ext cx="27432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1888" y="4768596"/>
            <a:ext cx="27432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59368" y="4768596"/>
            <a:ext cx="274320" cy="0"/>
          </a:xfrm>
          <a:prstGeom prst="line">
            <a:avLst/>
          </a:prstGeom>
          <a:ln w="15875">
            <a:solidFill>
              <a:srgbClr val="7C8A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59567" y="5248656"/>
            <a:ext cx="566929" cy="50292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984248" y="5751576"/>
            <a:ext cx="8842248" cy="0"/>
          </a:xfrm>
          <a:prstGeom prst="line">
            <a:avLst/>
          </a:prstGeom>
          <a:ln w="15875">
            <a:solidFill>
              <a:srgbClr val="FF99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84248" y="5248656"/>
            <a:ext cx="0" cy="502920"/>
          </a:xfrm>
          <a:prstGeom prst="line">
            <a:avLst/>
          </a:prstGeom>
          <a:ln w="15875">
            <a:solidFill>
              <a:srgbClr val="FF9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66928" y="5998464"/>
            <a:ext cx="25603" cy="338328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6044184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在 MCP 介面上,拒絕不是以 HTTP 403 出現:120/120 都是 HTTP 200 加上點名 policy id 的 JSON-RPC -32002。在 inference 介面上則是 HTTP 403 加 permission_error 封裝。兩個介面、兩種形狀 —— 而 tools/list 的拒絕方式是回傳空清單,完全不報錯。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參考資料與附錄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24 份 AWS 文件參考、檢查點決策矩陣、延遲優化技巧,以及自 v1.2 起的完整變更記錄。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主要 AWS 文件參考(1/2)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全部 24 條連結在 2026-08-09 實際檢查,24 條全部可連。連結有效性會隨時間改變,所以這是一項有日期的觀察,不是一項斷言。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主題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6026" y="1606677"/>
            <a:ext cx="72255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014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Guardrails 的運作方式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6026" y="189014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https://docs.aws.amazon.com/bedrock/latest/userguide/guardrails-how.html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1416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11416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6446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Policy 中的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6026" y="216446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https://docs.aws.amazon.com/bedrock-agentcore/latest/devguide/policy-guardrails-in-policies.html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8848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38781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Gateway Guardrails 入門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6026" y="2438781"/>
            <a:ext cx="72255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https://docs.aws.amazon.com/bedrock-agentcore/latest/devguide/policy-guardrails-getting-started.html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3654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8365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8683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中的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6026" y="288683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https://docs.aws.amazon.com/bedrock-agentcore/latest/devguide/policy.html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1086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6115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理解 Cedar 政策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6026" y="316115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https://docs.aws.amazon.com/bedrock-agentcore/latest/devguide/policy-understanding-cedar.html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38518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3851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3547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Policy 條件(when guardrails)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6026" y="343547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https://docs.aws.amazon.com/bedrock-agentcore/latest/devguide/policy-conditions.html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65950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0979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測試政策(LOG_ONLY 流程)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6026" y="370979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https://docs.aws.amazon.com/bedrock-agentcore/latest/devguide/policy-test-a-policy.html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3382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9338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98411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ApplyGuardrail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6026" y="398411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https://docs.aws.amazon.com/bedrock/latest/userguide/guardrails-use-independent-api.html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2081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25843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Guardrails Streaming 模式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6026" y="425843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https://docs.aws.amazon.com/bedrock/latest/userguide/guardrails-streaming.html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48246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48246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3275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Guardrails Tiers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6026" y="453275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https://docs.aws.amazon.com/bedrock/latest/userguide/guardrails-tiers.html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75678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80707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Guardrails 支援語言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6026" y="480707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https://docs.aws.amazon.com/bedrock/latest/userguide/guardrails-supported-languages.html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03110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03110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081396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Guardrails Input Tagging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6026" y="5081396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https://docs.aws.amazon.com/bedrock/latest/userguide/guardrails-tagging.html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3054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§10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主要 AWS 文件參考(2/2)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353964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主題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6026" y="1275588"/>
            <a:ext cx="72255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905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6026" y="155905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https://docs.aws.amazon.com/bedrock-agentcore/latest/devguide/observability.html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3337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Gateway 指標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6026" y="183337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https://docs.aws.amazon.com/bedrock-agentcore/latest/devguide/observability-gateway-metrics.html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05740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769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Policy 指標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6026" y="210769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https://docs.aws.amazon.com/bedrock-agentcore/latest/devguide/observability-policy-metrics.html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31720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33172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8201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 CloudWatch 監控 Bedrock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6026" y="238201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https://docs.aws.amazon.com/bedrock/latest/userguide/monitoring-guardrails-cw-metrics.html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60603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6332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監控 Bedrock Runtime 指標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6026" y="2656332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https://docs.aws.amazon.com/bedrock/latest/userguide/monitoring-runtime-metrics.html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88035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88035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93065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6026" y="293065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https://docs.aws.amazon.com/bedrock-agentcore/latest/devguide/evaluations.html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15467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20497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6026" y="320497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https://docs.aws.amazon.com/bedrock-agentcore/latest/devguide/optimization.html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428999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42899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47929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A/B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6026" y="347929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https://docs.aws.amazon.com/bedrock-agentcore/latest/devguide/ab-testing.html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70331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53611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Well-Architected Agentic AI Lens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6026" y="3753611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https://docs.aws.amazon.com/wellarchitected/latest/agentic-ai-lens/agentic-ai-lens.html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977639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397763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027931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輸入驗證最佳實踐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6026" y="4027931"/>
            <a:ext cx="72255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https://docs.aws.amazon.com/prescriptive-guidance/latest/agentic-ai-security/best-practices-input-validation.html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42569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475987"/>
            <a:ext cx="353964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AgentCore Memory 最佳實踐(Memory 安全;非 guardrails 專屬)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6026" y="4475987"/>
            <a:ext cx="722558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https://docs.aws.amazon.com/bedrock-agentcore/latest/devguide/best-practices.html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873751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487375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924043"/>
            <a:ext cx="353964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用 OTPS 診斷 InvocationLatency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6026" y="4924043"/>
            <a:ext cx="72255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https://docs.aws.amazon.com/bedrock/latest/userguide/monitoring-runtime-otps.html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148071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附錄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檢查點決策矩陣:在能看到該風險的最便宜 hop 上檢查它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✅ = 在此套用 · ❌ = 不要 · Optional = 僅當較便宜的 hop 看不到這項風險時。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56385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6677"/>
            <a:ext cx="21816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內容風險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8046" y="1606677"/>
            <a:ext cx="15996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Gateway (Hop#1)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4020" y="1606677"/>
            <a:ext cx="21816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輸入 Guard (Hop#2)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1986" y="1606677"/>
            <a:ext cx="27636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工具 I/O (Hop#5)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1944" y="1606677"/>
            <a:ext cx="159967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輸出 Guard (Hop#6)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839849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90141"/>
            <a:ext cx="218166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Prompt Injection/Attack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8046" y="1890141"/>
            <a:ext cx="15996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4020" y="1890141"/>
            <a:ext cx="2181662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選配(去重;需要 input tagging ——已驗證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986" y="1890141"/>
            <a:ext cx="2763653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對外部/不可信的工具回應(間接注入載體)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944" y="1890141"/>
            <a:ext cx="159967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87905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287905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38197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暴力內容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8046" y="2338197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4020" y="2338197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1986" y="2338197"/>
            <a:ext cx="276365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944" y="2338197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6222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612517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性內容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8046" y="2612517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4020" y="2612517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1986" y="2612517"/>
            <a:ext cx="276365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1944" y="2612517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836544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83654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886836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仇恨言論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8046" y="2886836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4020" y="2886836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1986" y="2886836"/>
            <a:ext cx="276365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1944" y="2886836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 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110864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161156"/>
            <a:ext cx="2181662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PII/敏感資訊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8046" y="3161156"/>
            <a:ext cx="1599670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4020" y="3161156"/>
            <a:ext cx="2181662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✅(偵測—— 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但 31 種有文件記載的 entity type 中有 9 種被量測為未偵測;見 §3.2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1986" y="3161156"/>
            <a:ext cx="2763653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✅(遮罩—— v1.2 說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tool_use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參數不被掃描的附註,對所探測的 entity 已被推翻:相同的 EMAIL PII 在 message 文字與 tool-result JSON 區塊中的每一次試驗都被處理;31 種中只探測了 1 種、僅限呼叫方提供的輸入側 tool 區塊、regex </a:t>
            </a:r>
            <a:r>
              <a:rPr sz="1139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sensitiveInformationPolicyConfig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未經測試——見 §4.2 BP#4)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944" y="3161156"/>
            <a:ext cx="1599670" cy="140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✅(遮罩)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60133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6013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651628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Denied Topics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8046" y="4651628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4020" y="4651628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1986" y="4651628"/>
            <a:ext cx="276365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1944" y="4651628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8756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925948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Word Blocklist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68046" y="4925948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4020" y="4925948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1986" y="4925948"/>
            <a:ext cx="276365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51944" y="4925948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149976"/>
            <a:ext cx="11057839" cy="62179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14997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200268"/>
            <a:ext cx="218166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幻覺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68046" y="5200268"/>
            <a:ext cx="159967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14020" y="5200268"/>
            <a:ext cx="218166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1986" y="5200268"/>
            <a:ext cx="2763653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51944" y="5200268"/>
            <a:ext cx="159967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✅(Contextual Grounding / Automated Reasoning,僅 detect)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577176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822060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工具授權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68046" y="5822060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14020" y="5822060"/>
            <a:ext cx="218166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1986" y="5822060"/>
            <a:ext cx="276365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✅(Cedar)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51944" y="5822060"/>
            <a:ext cx="159967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604608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附錄 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延遲優化技巧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57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57839" cy="2834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75588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技巧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9462" y="1275588"/>
            <a:ext cx="45927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8536" y="1275588"/>
            <a:ext cx="301307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延遲降低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0876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9052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政策並行評估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9462" y="1559052"/>
            <a:ext cx="45927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Bedrock 並行評估所有輸入政策(內建)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8536" y="1559052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相對於循序評估有顯著改善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783080"/>
            <a:ext cx="11057839" cy="448055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783080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3372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 Gateway 提早阻擋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9462" y="1833372"/>
            <a:ext cx="459276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 Hop#1 阻擋,完全跳過 Hop #2–6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8536" y="1833372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實測節省 30–57 ms(Hodges-Lehmann 位移 95% CI [30.2, 57.0]) 。免除模型推論費用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81428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Content block 批次化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9462" y="2281428"/>
            <a:ext cx="459276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在單次 ApplyGuardrail 呼叫中批次處理多個 content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8536" y="2281428"/>
            <a:ext cx="301307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減少往返次數(AWS 未公布具體數字;InvokeGuardrailChecks 上限為每則 message 10 個 content block)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52928"/>
            <a:ext cx="11057839" cy="795527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852928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03220"/>
            <a:ext cx="3013078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選擇性套用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9462" y="2903220"/>
            <a:ext cx="4592769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只對需要評估的內容套用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8536" y="2903220"/>
            <a:ext cx="3013078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與跳過率成比例——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但不要把 input tagging 算成 text-unit 的節省: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對一個 RAG 形狀的提示詞,加 tag 評估所回報的 text-unit 計數與未加 tag 者</a:t>
            </a: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完全相同</a:t>
            </a: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64845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98748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跨層去重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9462" y="3698748"/>
            <a:ext cx="45927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從多個跳中移除同一項政策(先確認沒有覆蓋缺口)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8536" y="3698748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移除重複的評估時間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922776"/>
            <a:ext cx="11057839" cy="27432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92277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973068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延遲最佳化推論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9462" y="3973068"/>
            <a:ext cx="459276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對模型呼叫使用 Bedrock latency-optimized 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8536" y="3973068"/>
            <a:ext cx="301307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縮短 Hop#3 的時間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197096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247388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非同步 streaming 模式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9462" y="4247388"/>
            <a:ext cx="459276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官方的 ASYNCHRONOUS streamProcessingMode:chunk 立即串流,掃描在背景進行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8536" y="4247388"/>
            <a:ext cx="3013078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消除緩衝延遲(取捨:阻擋生效前有一個外洩時窗;非同步模式無 PII 遮罩)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645152"/>
            <a:ext cx="11057839" cy="10972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附錄 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量測改變了什麼,一頁看完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530031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由 </a:t>
            </a:r>
            <a:r>
              <a:rPr sz="1400" b="1" i="0">
                <a:solidFill>
                  <a:srgbClr val="B31D1D"/>
                </a:solidFill>
                <a:latin typeface="Arial"/>
                <a:ea typeface="PingFang TC"/>
                <a:cs typeface="Arial"/>
              </a:rPr>
              <a:t>FALSE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判定驅動的修正 —— 文件寫錯了: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86992"/>
            <a:ext cx="506257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§6.1 延遲表:示意區間被實測 p50/p90/p99 取代;六個 hop 中五個落在 v1.2 區間外。每次額外工具呼叫成本 165–750 ms → 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約 850 ms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6431"/>
            <a:ext cx="506257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§3.1/§2.1/§9:「HTTP 403」已修正 —— MCP 的拒絕是 HTTP 200 + JSON-RPC -32002,120/120。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74061"/>
            <a:ext cx="506257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§3.2/附錄 A:31 種文件所列 PII 實體類型中,9 種實測未被偵測。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21690"/>
            <a:ext cx="5062575" cy="639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§3.4 tier 表:Classic 的 prompt leakage 偵測是「弱但可量測」(recall 0.41),不是「No」;Standard 的 1,000 字 denied-topic 上限被拒絕。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761130"/>
            <a:ext cx="506257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§6.2/§6.4/§8: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、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、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TemporalLatency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不存在;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無法作為告警使用。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08759"/>
            <a:ext cx="5062575" cy="4476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§7.1:校準來源從 CloudWatch 改為應用程式 log;§5.1:「Automated Reasoning 不支援串流」已撤回。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225296"/>
            <a:ext cx="5300319" cy="36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由 </a:t>
            </a:r>
            <a:r>
              <a:rPr sz="1400" b="1" i="0">
                <a:solidFill>
                  <a:srgbClr val="1E7E3C"/>
                </a:solidFill>
                <a:latin typeface="Arial"/>
                <a:ea typeface="PingFang TC"/>
                <a:cs typeface="Arial"/>
              </a:rPr>
              <a:t>TRUE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判定驅動的新增 —— 文件原本沒寫的前置條件: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191" y="1586992"/>
            <a:ext cx="5062575" cy="83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2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≥ 1.43.32 的下限與 1.43.30–.31 的陷阱區間;明確 </a:t>
            </a:r>
            <a:r>
              <a:rPr sz="1302" b="0" i="0">
                <a:solidFill>
                  <a:srgbClr val="3A424A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 的要求;約 50 秒的 span 延遲與 p90 = 11.5 秒的指標發佈延遲;實際的 span 名稱;撤銷在</a:t>
            </a:r>
            <a:r>
              <a:rPr sz="1302" b="1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兩個</a:t>
            </a:r>
            <a:r>
              <a:rPr sz="1302" b="0" i="0">
                <a:solidFill>
                  <a:srgbClr val="3A424A"/>
                </a:solidFill>
                <a:latin typeface="Arial"/>
                <a:ea typeface="PingFang TC"/>
                <a:cs typeface="Arial"/>
              </a:rPr>
              <a:t>方向上都是最終一致的,因此「撤銷、確認、繼續」的 runbook 被禁止。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418242"/>
            <a:ext cx="5300319" cy="1186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刻意保持不變: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 所有判定為 </a:t>
            </a:r>
            <a:r>
              <a:rPr sz="1400" b="1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、不可測、或未結案的主張 —— 各方向獨立設定、串流模式、interceptor、</a:t>
            </a:r>
            <a:r>
              <a:rPr sz="1400" b="1" i="0">
                <a:solidFill>
                  <a:srgbClr val="1B2631"/>
                </a:solidFill>
                <a:latin typeface="Courier New"/>
                <a:ea typeface="Courier New"/>
                <a:cs typeface="Courier New"/>
              </a:rPr>
              <a:t>suppressOutput</a:t>
            </a:r>
            <a:r>
              <a:rPr sz="14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、10 個內容區塊上限、自動更新漂移、三種 target 類型、推理區塊排除、網路圍堵、fail-secure 逾時,以及 §3.2 的計費不對稱。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604930"/>
            <a:ext cx="5300319" cy="51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– </a:t>
            </a:r>
            <a:r>
              <a:rPr sz="1400" b="0" i="0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差異中大多數只是加標記。這正是重點:文件說得比它能說的更少,而它現在說的每一句背後都有一份檔案。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每一項變更都可追溯到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results/phase1/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下的判定檔。數字由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census.py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於 2026-08-15 重新推導。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05199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46EB4"/>
                </a:solidFill>
                <a:latin typeface="Arial"/>
                <a:ea typeface="PingFang TC"/>
                <a:cs typeface="Arial"/>
              </a:rPr>
              <a:t>總結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2631"/>
                </a:solidFill>
                <a:latin typeface="Arial"/>
                <a:ea typeface="PingFang TC"/>
                <a:cs typeface="Arial"/>
              </a:rPr>
              <a:t>帶走什麼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88136"/>
            <a:ext cx="11057839" cy="201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234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AgentCore Guardrails —— 閉環設計 v1.4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5336895" cy="365760"/>
          </a:xfrm>
          <a:prstGeom prst="rect">
            <a:avLst/>
          </a:prstGeom>
          <a:solidFill>
            <a:srgbClr val="1E7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該做的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28216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在寫任何政策程式之前,把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botocore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釘在 ≥ 1.43.32,並明確給定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validationMode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11832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在啟用 ENFORCE 之前先寫基線 permit;Cedar 是預設拒絕。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3932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依流量語言選 tier,再用 Standard 強制的跨 Region 推論去檢查資料落地要求。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7548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任何不能被話術繞過的規則,放進 Cedar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permit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/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forbid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,不要放進 guardrail。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71164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每一次額外工具呼叫預留約 850 ms,告警週期設 ≥ 60 秒。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63264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讓拒絕偵測具備介面意識:-32002、HTTP 403,以及空的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tools/list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7871" y="1225296"/>
            <a:ext cx="5336895" cy="365760"/>
          </a:xfrm>
          <a:prstGeom prst="rect">
            <a:avLst/>
          </a:prstGeom>
          <a:solidFill>
            <a:srgbClr val="B3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307592"/>
            <a:ext cx="508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不該做的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7871" y="1728216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不要照 v1.2 的五 Region 清單規劃 —— 它已被駁回。請自行驗證。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2020316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不要把 202 當成成功;政策事後可能停在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CREATE_FAILED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2312416"/>
            <a:ext cx="5336895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不要對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ConfidenceScore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、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ConfidenceThreshold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、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TemporalLatency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或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LogOnlyEvalIncomplete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告警 —— 在這裡它們都沒有發佈任何資料點。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2987548"/>
            <a:ext cx="5336895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不要用跨維度的 </a:t>
            </a:r>
            <a:r>
              <a:rPr sz="1300" b="0" i="0">
                <a:solidFill>
                  <a:srgbClr val="1F2429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 讀 mismatch 指標:它會讀到請求數的 6 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7871" y="3279648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不要用 CloudWatch 校準門檻值 —— 分數在應用程式 log 裡,而且是字串。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7871" y="3763264"/>
            <a:ext cx="5336895" cy="483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▪ </a:t>
            </a:r>
            <a:r>
              <a:rPr sz="1300" b="0" i="0">
                <a:solidFill>
                  <a:srgbClr val="1F2429"/>
                </a:solidFill>
                <a:latin typeface="Arial"/>
                <a:ea typeface="PingFang TC"/>
                <a:cs typeface="Arial"/>
              </a:rPr>
              <a:t>不要寫「撤銷、確認、繼續」形式的 runbook:撤銷在兩個方向上都是最終一致的。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103620"/>
            <a:ext cx="25603" cy="214884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14934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本頁的每一項主張,要嘛是實測判定,要嘛是明確標示沒有判定。證據是標題頁所列程式庫中 </a:t>
            </a:r>
            <a:r>
              <a:rPr sz="900" b="0" i="1">
                <a:solidFill>
                  <a:srgbClr val="5F6B7A"/>
                </a:solidFill>
                <a:latin typeface="Courier New"/>
                <a:ea typeface="Courier New"/>
                <a:cs typeface="Courier New"/>
              </a:rPr>
              <a:t>results/phase1/</a:t>
            </a:r>
            <a:r>
              <a:rPr sz="900" b="0" i="1">
                <a:solidFill>
                  <a:srgbClr val="5F6B7A"/>
                </a:solidFill>
                <a:latin typeface="Arial"/>
                <a:ea typeface="PingFang TC"/>
                <a:cs typeface="Arial"/>
              </a:rPr>
              <a:t> 下每案一份的檔案。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509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F9900"/>
                </a:solidFill>
                <a:latin typeface="Arial"/>
                <a:ea typeface="PingFang TC"/>
                <a:cs typeface="Arial"/>
              </a:rPr>
              <a:t>結束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3300" b="1" i="0">
                <a:solidFill>
                  <a:srgbClr val="FFFFFF"/>
                </a:solidFill>
                <a:latin typeface="Arial"/>
                <a:ea typeface="PingFang TC"/>
                <a:cs typeface="Arial"/>
              </a:rPr>
              <a:t>文件才是交付物,本簡報是它的一種讀法。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v1.4,兩種語言,每一項修訂都可追溯到一份判定檔。未結案、</a:t>
            </a:r>
            <a:r>
              <a:rPr sz="1400" b="0" i="0">
                <a:solidFill>
                  <a:srgbClr val="9A5500"/>
                </a:solidFill>
                <a:latin typeface="Arial"/>
                <a:ea typeface="PingFang TC"/>
                <a:cs typeface="Arial"/>
              </a:rPr>
              <a:t>INCONCLUSIVE</a:t>
            </a:r>
            <a:r>
              <a:rPr sz="1400" b="0" i="0">
                <a:solidFill>
                  <a:srgbClr val="B9C6D2"/>
                </a:solidFill>
                <a:latin typeface="Arial"/>
                <a:ea typeface="PingFang TC"/>
                <a:cs typeface="Arial"/>
              </a:rPr>
              <a:t> 或不可測的案例所對應的主張都未改動 —— 只增加了標記。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9509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agentcore_guardrails_best_practices_v1.4.md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agentcore_guardrails_best_practices_v1.4.zh-TW.md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A96A3"/>
                </a:solidFill>
                <a:latin typeface="Arial"/>
                <a:ea typeface="PingFang TC"/>
                <a:cs typeface="Arial"/>
              </a:rPr>
              <a:t>— </a:t>
            </a:r>
            <a:r>
              <a:rPr sz="1150" b="0" i="0">
                <a:solidFill>
                  <a:srgbClr val="9FAFBD"/>
                </a:solidFill>
                <a:latin typeface="Arial"/>
                <a:ea typeface="PingFang TC"/>
                <a:cs typeface="Arial"/>
              </a:rPr>
              <a:t>github.com/timwukp/agentcore-guardrails-design-validation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47527" y="6382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56677"/>
                </a:solidFill>
                <a:latin typeface="Arial"/>
                <a:ea typeface="PingFang TC"/>
                <a:cs typeface="Arial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