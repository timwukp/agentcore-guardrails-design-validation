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417320"/>
            <a:ext cx="96926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VALIDATED DESIGN DOCUMENT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Guardrails Closed-Loop Design on Amazon Bedrock AgentCore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B9C6D2"/>
                </a:solidFill>
                <a:latin typeface="Arial"/>
                <a:ea typeface="Arial"/>
                <a:cs typeface="Arial"/>
              </a:rPr>
              <a:t>BEFORE → DURING → AFTER: six checkpoint hops, what each one costs, and which of the document's claims survived being measured.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4160520"/>
            <a:ext cx="3840480" cy="18288"/>
          </a:xfrm>
          <a:prstGeom prst="rect">
            <a:avLst/>
          </a:prstGeom>
          <a:solidFill>
            <a:srgbClr val="44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43484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Version   </a:t>
            </a:r>
            <a:r>
              <a:rPr sz="1050" b="0" i="0">
                <a:solidFill>
                  <a:srgbClr val="C8D3DD"/>
                </a:solidFill>
                <a:latin typeface="Arial"/>
                <a:ea typeface="Arial"/>
                <a:cs typeface="Arial"/>
              </a:rPr>
              <a:t>v1.4 — empirically amended from v1.2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Evidence   </a:t>
            </a:r>
            <a:r>
              <a:rPr sz="1050" b="0" i="0">
                <a:solidFill>
                  <a:srgbClr val="C8D3DD"/>
                </a:solidFill>
                <a:latin typeface="Arial"/>
                <a:ea typeface="Arial"/>
                <a:cs typeface="Arial"/>
              </a:rPr>
              <a:t>93 pre-registered cases · 90 published verdicts · us-east-1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Method   </a:t>
            </a:r>
            <a:r>
              <a:rPr sz="1050" b="0" i="0">
                <a:solidFill>
                  <a:srgbClr val="C8D3DD"/>
                </a:solidFill>
                <a:latin typeface="Arial"/>
                <a:ea typeface="Arial"/>
                <a:cs typeface="Arial"/>
              </a:rPr>
              <a:t>every decision rule sealed before any data arrived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Repository   </a:t>
            </a:r>
            <a:r>
              <a:rPr sz="1050" b="0" i="0">
                <a:solidFill>
                  <a:srgbClr val="C8D3DD"/>
                </a:solidFill>
                <a:latin typeface="Arial"/>
                <a:ea typeface="Arial"/>
                <a:cs typeface="Arial"/>
              </a:rPr>
              <a:t>github.com/timwukp/agentcore-guardrails-design-validation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Validation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Counts are re-derived by </a:t>
            </a:r>
            <a:r>
              <a:rPr sz="1200" b="0" i="0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census.py</a:t>
            </a: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 from the verdict files on disk, not maintained by hand.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81912"/>
            <a:ext cx="2079894" cy="1371600"/>
          </a:xfrm>
          <a:prstGeom prst="rect">
            <a:avLst/>
          </a:prstGeom>
          <a:solidFill>
            <a:srgbClr val="F3F6F9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81912"/>
            <a:ext cx="2079894" cy="4114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01368"/>
            <a:ext cx="182386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93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registered cases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sealed before measurement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1414" y="1581912"/>
            <a:ext cx="2079894" cy="1371600"/>
          </a:xfrm>
          <a:prstGeom prst="rect">
            <a:avLst/>
          </a:prstGeom>
          <a:solidFill>
            <a:srgbClr val="F3F6F9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11414" y="1581912"/>
            <a:ext cx="2079894" cy="41148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9430" y="1801368"/>
            <a:ext cx="182386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90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published verdicts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one per case, on disk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5900" y="1581912"/>
            <a:ext cx="2079894" cy="1371600"/>
          </a:xfrm>
          <a:prstGeom prst="rect">
            <a:avLst/>
          </a:prstGeom>
          <a:solidFill>
            <a:srgbClr val="F3F6F9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55900" y="1581912"/>
            <a:ext cx="2079894" cy="41148"/>
          </a:xfrm>
          <a:prstGeom prst="rect">
            <a:avLst/>
          </a:prstGeom>
          <a:solidFill>
            <a:srgbClr val="1E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3916" y="1801368"/>
            <a:ext cx="182386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45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TRUE</a:t>
            </a:r>
            <a:r>
              <a:rPr sz="115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— confirmed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annotated in place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0386" y="1581912"/>
            <a:ext cx="2079894" cy="1371600"/>
          </a:xfrm>
          <a:prstGeom prst="rect">
            <a:avLst/>
          </a:prstGeom>
          <a:solidFill>
            <a:srgbClr val="F3F6F9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00386" y="1581912"/>
            <a:ext cx="2079894" cy="41148"/>
          </a:xfrm>
          <a:prstGeom prst="rect">
            <a:avLst/>
          </a:prstGeom>
          <a:solidFill>
            <a:srgbClr val="B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8402" y="1801368"/>
            <a:ext cx="182386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23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FALSE</a:t>
            </a:r>
            <a:r>
              <a:rPr sz="115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— refuted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corrected in place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44872" y="1581912"/>
            <a:ext cx="2079894" cy="1371600"/>
          </a:xfrm>
          <a:prstGeom prst="rect">
            <a:avLst/>
          </a:prstGeom>
          <a:solidFill>
            <a:srgbClr val="F3F6F9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44872" y="1581912"/>
            <a:ext cx="2079894" cy="41148"/>
          </a:xfrm>
          <a:prstGeom prst="rect">
            <a:avLst/>
          </a:prstGeom>
          <a:solidFill>
            <a:srgbClr val="9A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72888" y="1801368"/>
            <a:ext cx="182386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20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INCONCLUSIVE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claim left unchanged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191256"/>
            <a:ext cx="11057839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92 verdict-eligible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, not 93: F9-1 is untestable by its own sealed oracle — AgentCore exposes no fault-injection surface for policy evaluation, so the case can never run.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674872"/>
            <a:ext cx="11057839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2 </a:t>
            </a:r>
            <a:r>
              <a:rPr sz="13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RECORDED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verdicts (F5-4a, F5-4b) — a verdict value, not an exemption: each has a result file like every other case.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966972"/>
            <a:ext cx="11057839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1 outstanding: F10-1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(§3.2 billing asymmetry). Not a missing run — Cost Explorer's finest granularity is daily and the oracle needs a per-request delta. Recorded as unmeasured rather than left open.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450588"/>
            <a:ext cx="11057839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1 case with no publishable standing: F5-3b.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It returned </a:t>
            </a:r>
            <a:r>
              <a:rPr sz="1300" b="0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TRUE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, but its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every_boundary_transition_was_observed_to_settle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guard failed, so it is not counted and is not cited as confirming anything.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Method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How to read a verdict in this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Every case had its decision rule sealed before any data arrived.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586992"/>
            <a:ext cx="1082009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The rule — the *oracle* — is pinned by sha256 in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lib/oracle.py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 together with the sample size, the thresholds and the guards. A result cannot be re-argued after the fact, because the argument was fixed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34621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✓ </a:t>
            </a:r>
            <a:r>
              <a:rPr sz="1400" b="1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TRUE</a:t>
            </a:r>
            <a:r>
              <a:rPr sz="1400" b="0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 — the document's claim was confirmed. The prose stays; a dated citation is appended.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41453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FALSE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— the claim was refuted. The prose is corrected in place, and the correction states its own scope.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48285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400" b="1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INCONCLUSIVE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is not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FALSE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, and it licenses no amendment.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The instrument failed to put the question, so the claim is left exactly as v1.2 wrote it. Twenty claims are in this state and none of them was quietly softened.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161365"/>
            <a:ext cx="11057839" cy="567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No claim is amended on a single calendar day's data.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i="0">
                <a:solidFill>
                  <a:srgbClr val="1B2631"/>
                </a:solidFill>
                <a:latin typeface="Courier New"/>
                <a:ea typeface="Courier New"/>
                <a:cs typeface="Courier New"/>
              </a:rPr>
              <a:t>reproduction_before_amendment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requires a second UTC day. This is why one confirmed finding (F5-8, route #3 credentials) is annotated but does not yet replace its NDA citation.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729309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4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Numbers on these slides are measurements with their sample size, Region and date attached. Where a number is absent, the measurement is absent — not rounded off.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103620"/>
            <a:ext cx="25603" cy="214884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14934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Verdict files: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results/phase1/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. Pre-registration: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PREREGISTRATION.yaml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. Both are in the repository named on the title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Executive Summary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Arial"/>
                <a:cs typeface="Arial"/>
              </a:rPr>
              <a:t>Why a guardrails design needs a latency budget, and what two constraints decide the deployment before any tuning starts.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§1 Executive Summary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The problem this design solves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567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Guardrails on AgentCore are not one check — they are 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multiple checkpoint hops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in the request/response lifecycle. Each hop is essential for safety and each adds measurable latency.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93240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This document defines the complete </a:t>
            </a:r>
            <a:r>
              <a:rPr sz="1400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BEFORE → DURING → AFTER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closed loop and makes the cost of each hop explicit, so the safety/latency trade-off is a decision rather than a surprise.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06320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400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Measured, not estimated.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Total end-to-end guardrail overhead and per-hop p50/p90/p99 come from n = 1000 per hop in us-east-1. Five of six measured hops fell outside the illustrative bands v1.2 published.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819399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Two constraints decide your deployment before you tune anything: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181096"/>
            <a:ext cx="10820095" cy="639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302" b="1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Regional availability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 — v1.2's five-Region list for Guardrails-in-policy is refuted.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CreatePolicyEngine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 also succeeded in us-west-2, eu-central-1, sa-east-1 and ap-south-1. But a create acceptance is the control plane accepting a mutation, *not* the feature evaluating a request — verify your own Region.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820535"/>
            <a:ext cx="10820095" cy="639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302" b="1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Language support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 — Classic-tier content filters cover English, French and Spanish only. On zh-TW / zh-CN / ja / ko, Classic detection measured </a:t>
            </a:r>
            <a:r>
              <a:rPr sz="1302" b="1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0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 at n = 240. Standard tier fixes it but </a:t>
            </a:r>
            <a:r>
              <a:rPr sz="1302" b="1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requires cross-Region inference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, so it is a data-residency decision too.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59975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4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Everything downstream — thresholds, alarms, tiers, network containment — assumes those two questions are answered first.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103620"/>
            <a:ext cx="25603" cy="214884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14934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"Guardrails are ineffective with languages that aren't supported" is AWS's own wording, and the measurement is literal agreement with it, not a cautious reading.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Architecture Overview: The Closed Loop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Arial"/>
                <a:cs typeface="Arial"/>
              </a:rPr>
              <a:t>Three phases, six checkpoint hops, one feedback path — and a hop numbering that the rest of the document is normative about.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The closed loop: BEFORE → DURING →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28216"/>
            <a:ext cx="3429000" cy="2606040"/>
          </a:xfrm>
          <a:prstGeom prst="roundRect">
            <a:avLst>
              <a:gd name="adj" fmla="val 3000"/>
            </a:avLst>
          </a:prstGeom>
          <a:solidFill>
            <a:srgbClr val="E8F1FA"/>
          </a:solidFill>
          <a:ln w="1143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92224"/>
            <a:ext cx="32095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BEFORE — Input 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728216"/>
            <a:ext cx="3429000" cy="2606040"/>
          </a:xfrm>
          <a:prstGeom prst="roundRect">
            <a:avLst>
              <a:gd name="adj" fmla="val 3000"/>
            </a:avLst>
          </a:prstGeom>
          <a:solidFill>
            <a:srgbClr val="F3F6F9"/>
          </a:solidFill>
          <a:ln w="1143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9704" y="1792224"/>
            <a:ext cx="32095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DURING — Execution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728216"/>
            <a:ext cx="3429000" cy="2606040"/>
          </a:xfrm>
          <a:prstGeom prst="roundRect">
            <a:avLst>
              <a:gd name="adj" fmla="val 3000"/>
            </a:avLst>
          </a:prstGeom>
          <a:solidFill>
            <a:srgbClr val="E7F4EA"/>
          </a:solidFill>
          <a:ln w="1143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1" y="1792224"/>
            <a:ext cx="32095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AFTER — Output Safety + Improvement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2276856"/>
            <a:ext cx="29718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Gateway Guardrail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+ Input Guardrail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Hop #1 · #2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2276856"/>
            <a:ext cx="29718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Agent Runtime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+ Tool Auth (Cedar)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+ Observability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Hop #3 · #4 · #5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0183" y="2276856"/>
            <a:ext cx="29718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Output Guardrail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+ Evaluation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+ Optimization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Hop #6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58768" y="3122676"/>
            <a:ext cx="749808" cy="0"/>
          </a:xfrm>
          <a:prstGeom prst="line">
            <a:avLst/>
          </a:prstGeom>
          <a:ln w="2222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80375" y="3122676"/>
            <a:ext cx="749808" cy="0"/>
          </a:xfrm>
          <a:prstGeom prst="line">
            <a:avLst/>
          </a:prstGeom>
          <a:ln w="2222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811511" y="3968496"/>
            <a:ext cx="4573" cy="1234440"/>
          </a:xfrm>
          <a:prstGeom prst="line">
            <a:avLst/>
          </a:prstGeom>
          <a:ln w="19050">
            <a:solidFill>
              <a:srgbClr val="FF99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368296" y="5202936"/>
            <a:ext cx="7443215" cy="0"/>
          </a:xfrm>
          <a:prstGeom prst="line">
            <a:avLst/>
          </a:prstGeom>
          <a:ln w="19050">
            <a:solidFill>
              <a:srgbClr val="FF99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368296" y="3968496"/>
            <a:ext cx="4572" cy="1234440"/>
          </a:xfrm>
          <a:prstGeom prst="line">
            <a:avLst/>
          </a:prstGeom>
          <a:ln w="19050">
            <a:solidFill>
              <a:srgbClr val="FF99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80693" y="5129783"/>
            <a:ext cx="2775204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693" y="5138927"/>
            <a:ext cx="27752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FEEDBACK LOOP — updated prompts, policies, thresholds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121908"/>
            <a:ext cx="25603" cy="214884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6167628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Hop numbering is normative for this document (§2.1). Hop #3 is model inference — not a guardrail checkpoint, included because it dominates the latency budget.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§2.1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Hop numbering (normative for this document)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Quoted from §2.1. Every later section, diagram and metric refers to hops by these numbers.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9594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5863" y="1606677"/>
            <a:ext cx="75941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6351" y="1606677"/>
            <a:ext cx="20652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95947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45863" y="1890141"/>
            <a:ext cx="759418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AgentCore Gateway Policy Guardrails (input)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6351" y="1890141"/>
            <a:ext cx="206526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4169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11416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64461"/>
            <a:ext cx="95947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45863" y="2164461"/>
            <a:ext cx="759418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Bedrock Guardrails — input evaluation (or ApplyGuardrail)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6351" y="2164461"/>
            <a:ext cx="206526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38848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438781"/>
            <a:ext cx="95947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5863" y="2438781"/>
            <a:ext cx="759418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Model inference (not a guardrail checkpoint; included for the latency budget)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6351" y="2438781"/>
            <a:ext cx="206526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DURING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662808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266280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713100"/>
            <a:ext cx="95947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45863" y="2713100"/>
            <a:ext cx="759418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Agent-to-tool authorization (Cedar Policy)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6351" y="2713100"/>
            <a:ext cx="206526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DURING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93712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987420"/>
            <a:ext cx="95947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5863" y="2987420"/>
            <a:ext cx="759418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Tool request/response guardrails (Gateway Policy)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6351" y="2987420"/>
            <a:ext cx="206526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DURING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211448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321144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261740"/>
            <a:ext cx="95947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45863" y="3261740"/>
            <a:ext cx="759418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Bedrock Guardrails — output 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86351" y="3261740"/>
            <a:ext cx="206526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48576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Hop numbering (normative) — and where the milliseconds go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3878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Measured p50 latency per hop, n = 1000 per hop, us-east-1. Five of the six hops fell outside v1.2's illustrative bands, so the bands were replaced by measurements.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88642"/>
            <a:ext cx="3520440" cy="420624"/>
          </a:xfrm>
          <a:prstGeom prst="roundRect">
            <a:avLst>
              <a:gd name="adj" fmla="val 3000"/>
            </a:avLst>
          </a:prstGeom>
          <a:solidFill>
            <a:srgbClr val="E8F1FA"/>
          </a:solidFill>
          <a:ln w="1143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152650"/>
            <a:ext cx="33009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2088642"/>
            <a:ext cx="5422392" cy="420624"/>
          </a:xfrm>
          <a:prstGeom prst="roundRect">
            <a:avLst>
              <a:gd name="adj" fmla="val 3000"/>
            </a:avLst>
          </a:prstGeom>
          <a:solidFill>
            <a:srgbClr val="F3F6F9"/>
          </a:solidFill>
          <a:ln w="1143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52650"/>
            <a:ext cx="52029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DURING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57815" y="2088642"/>
            <a:ext cx="1645920" cy="420624"/>
          </a:xfrm>
          <a:prstGeom prst="roundRect">
            <a:avLst>
              <a:gd name="adj" fmla="val 3000"/>
            </a:avLst>
          </a:prstGeom>
          <a:solidFill>
            <a:srgbClr val="E7F4EA"/>
          </a:solidFill>
          <a:ln w="1143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67543" y="2152650"/>
            <a:ext cx="1426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2893314"/>
            <a:ext cx="16002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Hop #1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Gateway policy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</a:t>
            </a:r>
            <a:br/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p50 401 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2893314"/>
            <a:ext cx="16002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Hop #2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Bedrock input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</a:t>
            </a:r>
            <a:br/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p50 231 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2893314"/>
            <a:ext cx="16002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Hop #3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Model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inference</a:t>
            </a:r>
            <a:br/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500 ms – 30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2893314"/>
            <a:ext cx="16002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Hop #4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Cedar tool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authorization</a:t>
            </a:r>
            <a:br/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p50 55 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2893314"/>
            <a:ext cx="16002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Hop #5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Tool req/resp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</a:t>
            </a:r>
            <a:br/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p50 401 ms × 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03536" y="2893314"/>
            <a:ext cx="16002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Hop #6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Bedrock output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</a:t>
            </a:r>
            <a:br/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p50 234 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85416" y="3670553"/>
            <a:ext cx="283464" cy="0"/>
          </a:xfrm>
          <a:prstGeom prst="line">
            <a:avLst/>
          </a:prstGeom>
          <a:ln w="17780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69080" y="3670553"/>
            <a:ext cx="283464" cy="0"/>
          </a:xfrm>
          <a:prstGeom prst="line">
            <a:avLst/>
          </a:prstGeom>
          <a:ln w="17780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52744" y="3670553"/>
            <a:ext cx="283463" cy="0"/>
          </a:xfrm>
          <a:prstGeom prst="line">
            <a:avLst/>
          </a:prstGeom>
          <a:ln w="17780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36408" y="3670553"/>
            <a:ext cx="283463" cy="0"/>
          </a:xfrm>
          <a:prstGeom prst="line">
            <a:avLst/>
          </a:prstGeom>
          <a:ln w="17780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720072" y="3670553"/>
            <a:ext cx="283464" cy="0"/>
          </a:xfrm>
          <a:prstGeom prst="line">
            <a:avLst/>
          </a:prstGeom>
          <a:ln w="17780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66928" y="5998464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6044184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Measured p50: Hop #1 401 ms · Hop #2 231 ms · Hop #4 55 ms · Hop #5 401 ms × N calls · Hop #6 234 ms. Hop #3 (model inference) was not re-measured and carries v1.2's 500 ms–30 s. Single-tool-call total: 1483 / 1722 / 2107 ms. p90/p99 and confidence intervals are in §6.1.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1: BEFORE — Input Safety Checkpoints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Arial"/>
                <a:cs typeface="Arial"/>
              </a:rPr>
              <a:t>Hop #1 at the Gateway, Hop #2 at the model boundary, and the tier decision that decides whether either of them does anything at 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800600"/>
            <a:ext cx="9509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Arial"/>
                <a:cs typeface="Arial"/>
              </a:rPr>
              <a:t>§3.1 Gateway policy guardrails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Arial"/>
                <a:cs typeface="Arial"/>
              </a:rPr>
              <a:t>§3.2 Bedrock Guardrails — input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Arial"/>
                <a:cs typeface="Arial"/>
              </a:rPr>
              <a:t>§3.3 ApplyGuardrail for non-Bedrock models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Arial"/>
                <a:cs typeface="Arial"/>
              </a:rPr>
              <a:t>§3.4 Tiers and language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§3.1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Hop #1 — AgentCore Gateway policy guardrails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567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Intercepts incoming requests 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at the gateway, before the agent is invoked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— a blocked request never reaches the model, so it costs no inference.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93240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Content is evaluated against guardrail safeguards expressed as </a:t>
            </a:r>
            <a:r>
              <a:rPr sz="1400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Cedar policy conditions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: content filters, denied topics, word filters, sensitive-information filters, and prompt-attack detection (JAILBREAK, PROMPT_INJECTION, PROMPT_LEAKAGE).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06320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Three traps that a reader following v1.2 verbatim would hit: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68016"/>
            <a:ext cx="1082009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302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Pin </a:t>
            </a:r>
            <a:r>
              <a:rPr sz="1302" b="1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botocore</a:t>
            </a:r>
            <a:r>
              <a:rPr sz="1302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/</a:t>
            </a:r>
            <a:r>
              <a:rPr sz="1302" b="1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boto3</a:t>
            </a:r>
            <a:r>
              <a:rPr sz="1302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≥ 1.43.32.</a:t>
            </a:r>
            <a:r>
              <a:rPr sz="1302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Versions 1.43.30–.31 expose </a:t>
            </a:r>
            <a:r>
              <a:rPr sz="1302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InvokeGuardrailChecks</a:t>
            </a:r>
            <a:r>
              <a:rPr sz="1302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*without* </a:t>
            </a:r>
            <a:r>
              <a:rPr sz="1302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enforcementMode</a:t>
            </a:r>
            <a:r>
              <a:rPr sz="1302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, and the bundled AWS CLI v2 has no policy-engine subcommands at 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115645"/>
            <a:ext cx="1082009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302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Pass an explicit </a:t>
            </a:r>
            <a:r>
              <a:rPr sz="1302" b="1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validationMode</a:t>
            </a:r>
            <a:r>
              <a:rPr sz="1302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.</a:t>
            </a:r>
            <a:r>
              <a:rPr sz="1302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The baseline permit statement this document recommends is rejected under the </a:t>
            </a:r>
            <a:r>
              <a:rPr sz="1302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FAIL_ON_ANY_FINDINGS</a:t>
            </a:r>
            <a:r>
              <a:rPr sz="1302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default — asynchronously, *after* a 202 response. Poll the policy </a:t>
            </a:r>
            <a:r>
              <a:rPr sz="1302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status</a:t>
            </a:r>
            <a:r>
              <a:rPr sz="1302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; never treat the 202 as success.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63274"/>
            <a:ext cx="1082009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302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Write the baseline permit BEFORE enabling ENFORCE.</a:t>
            </a:r>
            <a:r>
              <a:rPr sz="1302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Cedar is default-deny, so an engine switched to ENFORCE with no permit denies everything.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010903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 mode flip is fast and observable: an accepted </a:t>
            </a:r>
            <a:r>
              <a:rPr sz="14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UpdateGateway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took 602.8 / 931.7 ms, and a previously blocked request was served 13.2–14.2 s later. </a:t>
            </a:r>
            <a:r>
              <a:rPr sz="14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iam:PassRole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is needed beside </a:t>
            </a:r>
            <a:r>
              <a:rPr sz="14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UpdateGateway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§3.2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Hop #2 — Bedrock Guardrails on the input, and how well it actually detects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567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Evaluates the user prompt 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before model inference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when </a:t>
            </a:r>
            <a:r>
              <a:rPr sz="1400" b="1" i="0">
                <a:solidFill>
                  <a:srgbClr val="1B2631"/>
                </a:solidFill>
                <a:latin typeface="Courier New"/>
                <a:ea typeface="Courier New"/>
                <a:cs typeface="Courier New"/>
              </a:rPr>
              <a:t>guardrailConfiguration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is attached to the invocation. On a violation, inference is not executed and you pay only for the guardrail — not for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93240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Supports the full range of guardrail policies — more comprehensive than the Gateway level.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0072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Measured detection efficacy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(us-east-1, 2026-08-10):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61768"/>
            <a:ext cx="10820095" cy="2558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✓ </a:t>
            </a:r>
            <a:r>
              <a:rPr sz="1302" b="0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Benign false-positive rate </a:t>
            </a:r>
            <a:r>
              <a:rPr sz="1302" b="1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0.9%</a:t>
            </a:r>
            <a:r>
              <a:rPr sz="1302" b="0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 [0.16%, 5.0%] at n = 110 — the filters are not trigger-happy on ordinary traffic.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17586"/>
            <a:ext cx="1082009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302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Sensitive-information filters: 9 of 31 documented PII entity types measured undetected</a:t>
            </a:r>
            <a:r>
              <a:rPr sz="1302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(recall CI upper bound below 0.5, n = 341). Do not assume the published entity list is the detected entity list — test the types you actually carry.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165215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Configure input tagging wherever prompt-attack filtering is expected at the model layer.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Untagged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InvokeModel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prompt-attack recall measured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0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[0, 0.031] across 4 arms × 120. Tagging is required, not optional — use a random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tagSuffix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78295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4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Per-direction independence (BP#1) is </a:t>
            </a:r>
            <a:r>
              <a:rPr sz="14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left as v1.2 wrote it</a:t>
            </a:r>
            <a:r>
              <a:rPr sz="14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 — F1-11 returned </a:t>
            </a:r>
            <a:r>
              <a:rPr sz="1400" b="0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INCONCLUSIVE</a:t>
            </a:r>
            <a:r>
              <a:rPr sz="14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Billing asymmetry: blocking early is cheaper than blocking 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93976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User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7208" y="2093976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Hop #2 input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 — BLOCKS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13248" y="2093976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Model inference</a:t>
            </a:r>
            <a:br/>
            <a:r>
              <a:rPr sz="10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NEVER 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0727" y="2093976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E7F4EA"/>
          </a:solidFill>
          <a:ln w="1270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Charged: guardrail text units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831336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User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3831336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Hop #3 model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inference RUNS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13248" y="3831336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E7F4EA"/>
          </a:solidFill>
          <a:ln w="1270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Hop #6 output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 — BLOCKS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7" y="3831336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FCEBEA"/>
          </a:solidFill>
          <a:ln w="12700">
            <a:solidFill>
              <a:srgbClr val="B3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Charged: inference already ran + units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41448" y="2551176"/>
            <a:ext cx="36576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47488" y="2551176"/>
            <a:ext cx="365760" cy="0"/>
          </a:xfrm>
          <a:prstGeom prst="line">
            <a:avLst/>
          </a:prstGeom>
          <a:ln w="15875">
            <a:solidFill>
              <a:srgbClr val="8A96A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44967" y="2551176"/>
            <a:ext cx="36576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41448" y="4288536"/>
            <a:ext cx="36576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47488" y="4288536"/>
            <a:ext cx="36576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44967" y="4288536"/>
            <a:ext cx="36576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66928" y="5998464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6044184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UNMEASURED — F10-1 is the one outstanding case. Cost Explorer's finest granularity is daily and the oracle reads a per-request delta, so this claim stands exactly as v1.2 wrote it, unsupported by measurement in either direction (results/CENSUS-NOT-MEASURED.md).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§3.3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Hop #2-ALT — ApplyGuardrail, for models that are not on Bedrock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The same guardrail evaluation as Hop #2, but as a 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standalone API call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decoupled from any foundation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86992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Use it for third-party models, self-hosted models, or a LiteLLM-style gateway. You control when and how it is called — which also means nothing calls it for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0072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Cost: it adds a full round-trip API call to Bedrock Runtime.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In the latency budget it is a hop like any other, and it is on the critical path of every request you choose to check.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13152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4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Batch content blocks where you can — but the documented 10-content-block cap is </a:t>
            </a:r>
            <a:r>
              <a:rPr sz="14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left unchanged</a:t>
            </a:r>
            <a:r>
              <a:rPr sz="14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: F1-20 returned </a:t>
            </a:r>
            <a:r>
              <a:rPr sz="1400" b="0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INCONCLUSIVE</a:t>
            </a:r>
            <a:r>
              <a:rPr sz="14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§3.4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Guardrail tiers: what changed after measurement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Quoted from §3.4, cells abridged at sentence boundaries. Two of v1.2's tier claims did not survive.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286947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655854" y="1606677"/>
            <a:ext cx="3874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Classic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6886" y="1606677"/>
            <a:ext cx="3874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Standard tier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28694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Content filter / prompt attack languages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5854" y="1890141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English, French, Spanish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76886" y="1890141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Dozens of languages, incl. Chinese (Simplified), Japanese, Korean, German, Hindi, Arabic, and more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287905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28790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38197"/>
            <a:ext cx="28694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Prompt leakage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5854" y="2338197"/>
            <a:ext cx="387472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Weak but measurable (v1.2 said "No")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6886" y="2338197"/>
            <a:ext cx="387472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Yes (strong)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6222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612517"/>
            <a:ext cx="28694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Denied topic definition length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5854" y="2612517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200 chars (confirmed at boundary)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6886" y="2612517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1,000 chars —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not reproducible as documented; see correction below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010280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01028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060572"/>
            <a:ext cx="28694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Cross-Region inference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5854" y="3060572"/>
            <a:ext cx="387472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Not used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6886" y="3060572"/>
            <a:ext cx="387472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Required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(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crossRegionConfig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/ guardrail profile)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8460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5980176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6025896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Prompt-leakage detection is </a:t>
            </a:r>
            <a:r>
              <a:rPr sz="900" b="1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not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 Standard-exclusive: Classic measured recall 0.41 [0.32, 0.50] against FPR 0.036 at n = 460 — weak, but not the documented "No". And the Standard-tier 1,000-char denied-topic limit was rejected with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ValidationException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, while Classic's 200-char boundary held exactly.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Tier selection is decided by traffic language, not by feature appetite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916936"/>
            <a:ext cx="2240280" cy="1188720"/>
          </a:xfrm>
          <a:prstGeom prst="roundRect">
            <a:avLst>
              <a:gd name="adj" fmla="val 6000"/>
            </a:avLst>
          </a:prstGeom>
          <a:solidFill>
            <a:srgbClr val="1B2631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language is</a:t>
            </a:r>
            <a:br/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traffic?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773936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EN / FR / ES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773936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Classic tier is sufficient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9407" y="1773936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Prompt leakage: weak, not absent — recall 0.41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4288536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3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Any zh / ja / ko / other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4288536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FCEBEA"/>
          </a:solidFill>
          <a:ln w="12700">
            <a:solidFill>
              <a:srgbClr val="B3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Standard tier REQUIRED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79407" y="4288536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 w="12700">
            <a:solidFill>
              <a:srgbClr val="9A5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crossRegionConfig is mandatory — data leaves the Region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898648" y="2299715"/>
            <a:ext cx="457200" cy="1211581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71215" y="2814066"/>
            <a:ext cx="512064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5" y="2823210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EN/FR/ES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98648" y="3511296"/>
            <a:ext cx="457200" cy="1303020"/>
          </a:xfrm>
          <a:prstGeom prst="line">
            <a:avLst/>
          </a:prstGeom>
          <a:ln w="15875">
            <a:solidFill>
              <a:srgbClr val="B31D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745486" y="4071366"/>
            <a:ext cx="763524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5486" y="4080510"/>
            <a:ext cx="7635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anything else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87568" y="2299715"/>
            <a:ext cx="45720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22208" y="2299715"/>
            <a:ext cx="457199" cy="0"/>
          </a:xfrm>
          <a:prstGeom prst="line">
            <a:avLst/>
          </a:prstGeom>
          <a:ln w="15875">
            <a:solidFill>
              <a:srgbClr val="8A96A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87568" y="4814316"/>
            <a:ext cx="457200" cy="0"/>
          </a:xfrm>
          <a:prstGeom prst="line">
            <a:avLst/>
          </a:prstGeom>
          <a:ln w="15875">
            <a:solidFill>
              <a:srgbClr val="B31D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22208" y="4814316"/>
            <a:ext cx="457199" cy="0"/>
          </a:xfrm>
          <a:prstGeom prst="line">
            <a:avLst/>
          </a:prstGeom>
          <a:ln w="15875">
            <a:solidFill>
              <a:srgbClr val="B31D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66928" y="5998464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044184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Classic detection on zh-TW / zh-CN / ja / ko measured 0 [0, 0.0175] at n=240 — "ineffective" is literal, not cautious. Standard's paired improvement p ≈ 4.6×10⁻⁴⁶ at n=216. The documented 1,000-char denied-topic limit was rejected with ValidationException.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§3.1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If you come from a framework: where the hook you know lives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Framework hook concepts mapped onto AgentCore primitives and the place enforcement actually happens.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286947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Framework hook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5854" y="1606677"/>
            <a:ext cx="3874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AgentCore primitive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6886" y="1606677"/>
            <a:ext cx="3874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Enforcement location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28694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PreToolUse hook (allow/deny before execution)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5854" y="1890141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Cedar Policy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permit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/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forbid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(Hop #4) — deterministic, default-deny, parameter-level conditions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76886" y="1890141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Gateway data plane (outside agent microVM)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287905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28790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38197"/>
            <a:ext cx="28694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PreToolUse content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5854" y="2338197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Guardrails-in-policy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when guardrails {...}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on tool requests (Hop #5)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6886" y="2338197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Gateway data plane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7359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786253"/>
            <a:ext cx="28694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PreToolUse custom logic (regex, external authz, per-user rate limits)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5854" y="2786253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Gateway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REQUEST Lambda interceptor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6886" y="2786253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Gateway boundary, customer Lambda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184016"/>
            <a:ext cx="11057839" cy="62179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18401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34308"/>
            <a:ext cx="286947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PostToolUse output filter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5854" y="3234308"/>
            <a:ext cx="387472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suppressOutput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effect — evaluates the action's output after completion and suppresses it on guardrail violation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6886" y="3234308"/>
            <a:ext cx="387472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Gateway data plane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80580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56100"/>
            <a:ext cx="28694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PostToolUse transformation/sanitization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5854" y="3856100"/>
            <a:ext cx="387472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Gateway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RESPONSE Lambda interceptor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6886" y="3856100"/>
            <a:ext cx="387472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Gateway boundary, customer Lambda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080128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08012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130420"/>
            <a:ext cx="28694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Hook audit trail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5854" y="4130420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CloudTrail (policy CRUD + evaluation decisions) + Policy metrics/spans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76886" y="4130420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Independent of agent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52818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2: DURING — Execution Control and Observability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Arial"/>
                <a:cs typeface="Arial"/>
              </a:rPr>
              <a:t>The deterministic layer. Cedar decides tool access on every hop, and it is the only part of this design that is immune to prompt injection.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800600"/>
            <a:ext cx="9509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Arial"/>
                <a:cs typeface="Arial"/>
              </a:rPr>
              <a:t>§4.1 Cedar tool authorization (Hop #4)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Arial"/>
                <a:cs typeface="Arial"/>
              </a:rPr>
              <a:t>§4.2 Tool request/response guardrails (Hop #5)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Arial"/>
                <a:cs typeface="Arial"/>
              </a:rPr>
              <a:t>§4.3 Real-time observability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Arial"/>
                <a:cs typeface="Arial"/>
              </a:rPr>
              <a:t>§4.4 Non-bypassable hooks · §4.5 Network containment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§4.1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Hop #4 — Cedar tool authorization is the deterministic checkpoint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567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Intercepts 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every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agent-to-tool request through the Gateway and makes an allow/deny decision from policy logic — not from the model's reasoning.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93240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✓ </a:t>
            </a:r>
            <a:r>
              <a:rPr sz="1400" b="1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Immune to prompt injection</a:t>
            </a:r>
            <a:r>
              <a:rPr sz="1400" b="0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, because it operates outside the model. Put anything that must not be talked around into </a:t>
            </a:r>
            <a:r>
              <a:rPr sz="1400" b="0" i="0">
                <a:solidFill>
                  <a:srgbClr val="1E7E3C"/>
                </a:solidFill>
                <a:latin typeface="Courier New"/>
                <a:ea typeface="Courier New"/>
                <a:cs typeface="Courier New"/>
              </a:rPr>
              <a:t>permit</a:t>
            </a:r>
            <a:r>
              <a:rPr sz="1400" b="0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/</a:t>
            </a:r>
            <a:r>
              <a:rPr sz="1400" b="0" i="0">
                <a:solidFill>
                  <a:srgbClr val="1E7E3C"/>
                </a:solidFill>
                <a:latin typeface="Courier New"/>
                <a:ea typeface="Courier New"/>
                <a:cs typeface="Courier New"/>
              </a:rPr>
              <a:t>forbid</a:t>
            </a:r>
            <a:r>
              <a:rPr sz="1400" b="0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, not into a guardrail.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06320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✓ </a:t>
            </a:r>
            <a:r>
              <a:rPr sz="1400" b="1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Deterministic — and measured to be so.</a:t>
            </a:r>
            <a:r>
              <a:rPr sz="1400" b="0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 630/630 trials under one configuration produced </a:t>
            </a:r>
            <a:r>
              <a:rPr sz="1400" b="1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0 flips</a:t>
            </a:r>
            <a:r>
              <a:rPr sz="1400" b="0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: amount 499.9 allowed 300/300, amount 500.0 denied 300/300, one-sided flip-rate ceiling 0.00474. The boundary is exact.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819399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Cedar authoring facts that cost real time to learn: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181096"/>
            <a:ext cx="1082009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amount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 must be sent as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100.0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, not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100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 — the engine refuses to bind an integral JSON literal to a Cedar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decimal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. Four fractional digits do bind.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628725"/>
            <a:ext cx="1082009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A guardrail statement needs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action ==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 scoping </a:t>
            </a:r>
            <a:r>
              <a:rPr sz="1302" b="1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at runtime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: unscoped, it denies everything with "guardrail policy could not be evaluated — missing an attribute", even though it created successfully.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076354"/>
            <a:ext cx="1082009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Thresholds are </a:t>
            </a:r>
            <a:r>
              <a:rPr sz="1302" b="1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mandatory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 in hand-written policies: a no-threshold guardrails condition settles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CREATE_FAILED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 with a type error, while the same statement with an explicit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.greaterThan(decimal("0.2"))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 reaches ACTIVE.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523983"/>
            <a:ext cx="11057839" cy="719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Two documented limitations were </a:t>
            </a:r>
            <a:r>
              <a:rPr sz="1400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refuted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: the validator accepted Cedar's </a:t>
            </a:r>
            <a:r>
              <a:rPr sz="14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like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inside a </a:t>
            </a:r>
            <a:r>
              <a:rPr sz="14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when guardrails {…}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block, and accepted a policy mixing </a:t>
            </a:r>
            <a:r>
              <a:rPr sz="14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when {…}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with </a:t>
            </a:r>
            <a:r>
              <a:rPr sz="14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when guardrails {…}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— four terminal-ACTIVE acceptances per arm, replicated on a second UTC day. Evaluation-time behaviour is still unmeasured, so the split-into-two-statements advice stands.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LOG_ONLY has two levels, and the weaker one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3878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Enforcement is the conjunction of both levels: only ENFORCE × ACTIVE denies anything. Three of the four cells look identical in production and block nothing.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4448" y="2207514"/>
            <a:ext cx="3931920" cy="502920"/>
          </a:xfrm>
          <a:prstGeom prst="roundRect">
            <a:avLst>
              <a:gd name="adj" fmla="val 6000"/>
            </a:avLst>
          </a:prstGeom>
          <a:solidFill>
            <a:srgbClr val="1B2631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 enforcementMode = 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53527" y="2207514"/>
            <a:ext cx="3931920" cy="502920"/>
          </a:xfrm>
          <a:prstGeom prst="roundRect">
            <a:avLst>
              <a:gd name="adj" fmla="val 6000"/>
            </a:avLst>
          </a:prstGeom>
          <a:solidFill>
            <a:srgbClr val="1B2631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 enforcementMode = LOG_ONLY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47594"/>
            <a:ext cx="2788920" cy="132588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 mode</a:t>
            </a:r>
            <a:br/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ENFORCE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310634"/>
            <a:ext cx="2788920" cy="132588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 mode</a:t>
            </a:r>
            <a:br/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LOG_ONLY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2847594"/>
            <a:ext cx="3931920" cy="1325880"/>
          </a:xfrm>
          <a:prstGeom prst="roundRect">
            <a:avLst>
              <a:gd name="adj" fmla="val 6000"/>
            </a:avLst>
          </a:prstGeom>
          <a:solidFill>
            <a:srgbClr val="E7F4EA"/>
          </a:solidFill>
          <a:ln w="1270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ENFORCED</a:t>
            </a:r>
            <a:br/>
            <a:r>
              <a:rPr sz="1050" b="1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request is denied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53527" y="2847594"/>
            <a:ext cx="3931920" cy="132588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 w="12700">
            <a:solidFill>
              <a:srgbClr val="9A5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LOGGED ONLY</a:t>
            </a:r>
            <a:br/>
            <a:r>
              <a:rPr sz="1050" b="1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nothing is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4448" y="4310634"/>
            <a:ext cx="3931920" cy="132588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 w="12700">
            <a:solidFill>
              <a:srgbClr val="9A5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LOGGED ONLY</a:t>
            </a:r>
            <a:br/>
            <a:r>
              <a:rPr sz="1050" b="1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nothing is blocked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53527" y="4310634"/>
            <a:ext cx="3931920" cy="132588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 w="12700">
            <a:solidFill>
              <a:srgbClr val="9A5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LOGGED ONLY</a:t>
            </a:r>
            <a:br/>
            <a:r>
              <a:rPr sz="1050" b="1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nothing is blocked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998464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6044184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"Nothing is blocked" is not "nothing is visible": shadow evaluations still log DENY/FORBID at ERROR level, which reads like an outage in a log search. Gate any flip-count reading on LogOnlyMatches &gt; 0 first — LogOnlyEvalIncomplete published no datapoint and lists 0 dimension combinations, so its prescribed alarm cannot fire.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§4.1 · table from §6.4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A denial does not look the same on every surface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Detection keyed only on JSON-RPC -32002 — which is all v1.3 described — misses two of these three channels.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26181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Surface /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4539" y="1606677"/>
            <a:ext cx="81470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a denial looks like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90141"/>
            <a:ext cx="261815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MCP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tools/call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4539" y="1890141"/>
            <a:ext cx="814707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200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+ JSON-RPC error </a:t>
            </a:r>
            <a:r>
              <a:rPr sz="1139" b="1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-32002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, "Tool Execution Denied: Tool call not allowed due to policy enforcement [Policy evaluation denied due to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&lt;policyId&gt;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]"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287905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28790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38197"/>
            <a:ext cx="261815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Inference (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POST /inference/v1/messages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4539" y="2338197"/>
            <a:ext cx="814707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403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+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{"error":{"type":"permission_error","message":"Request Denied: Gateway Target request not allowed due to policy enforcement […]"}}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—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different status, different envelope, different wording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7359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86253"/>
            <a:ext cx="261815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MCP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tools/list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4539" y="2786253"/>
            <a:ext cx="814707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No error at all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: the call succeeds and returns an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empty tool list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(three tools in the baseline). Tool discovery is filtered, not failed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18401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980176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6025896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Observed on one calendar day on one gateway, from a run whose sealed verdict is </a:t>
            </a:r>
            <a:r>
              <a:rPr sz="900" b="0" i="1">
                <a:solidFill>
                  <a:srgbClr val="9A5500"/>
                </a:solidFill>
                <a:latin typeface="Arial"/>
                <a:ea typeface="Arial"/>
                <a:cs typeface="Arial"/>
              </a:rPr>
              <a:t>INCONCLUSIVE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. These are wire observations, not oracle outputs, and no positive claim rests on them — they close a coverage gap in the *detection guidance* rather than correcting anything v1.2 asserted.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§4.2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Hop #5 — guardrails on tool requests and responses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567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Evaluates content in 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both directions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: agent → tool and tool → agent. Request authorization uses the </a:t>
            </a:r>
            <a:r>
              <a:rPr sz="1400" b="1" i="0">
                <a:solidFill>
                  <a:srgbClr val="1B2631"/>
                </a:solidFill>
                <a:latin typeface="Courier New"/>
                <a:ea typeface="Courier New"/>
                <a:cs typeface="Courier New"/>
              </a:rPr>
              <a:t>permit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/</a:t>
            </a:r>
            <a:r>
              <a:rPr sz="1400" b="1" i="0">
                <a:solidFill>
                  <a:srgbClr val="1B2631"/>
                </a:solidFill>
                <a:latin typeface="Courier New"/>
                <a:ea typeface="Courier New"/>
                <a:cs typeface="Courier New"/>
              </a:rPr>
              <a:t>forbid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effects; response content uses the guardrail safeguards.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93240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Same safeguards as Hop #1, applied to tool communication — this is what stops sensitive data leaving through a tool response.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06320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It is added for EACH tool invocation in the agent's loop.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That is the cost driver: each additional tool call costs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≈850 ms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(CI [838.7, 862.7], n = 600 usable) — not the 165–750 ms v1.2 published.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819399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4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Indirect prompt injection through a tool response (BP#1) is </a:t>
            </a:r>
            <a:r>
              <a:rPr sz="14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left as written</a:t>
            </a:r>
            <a:r>
              <a:rPr sz="14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: F5-5's probe policy never became ACTIVE and no echo round trip was observed, so the suppression question was never put.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§4.3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Real-time observability during execution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567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OpenTelemetry-compatible distributed tracing across all agent components, publishing metrics, spans and traces to CloudWatch. LLM inference calls, tool invocations and memory operations are captured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93240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Enable CloudWatch Transaction Search first.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With tracing disabled, the same traffic produced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0 spans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; with it enabled, spans appeared. Tracing is a genuine prerequisite, not a nice-to-have.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06320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Spans lag the request by ≈50 s.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Anything that reads spans to make a decision — an alarm, a gate, a test — has to tolerate that lag or it will read an empty result and call it a clean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819399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Instrument your own code with the ADOT SDK for custom spans; the platform spans alone will not explain your agent's own decisions.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§4.4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The five bypass routes and how each is closed — routes ① – ③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A hook is only non-bypassable if every route around it is closed. Quoted from §4.4, abridged at sentence boundaries.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5908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7269" y="1606677"/>
            <a:ext cx="353964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Bypass 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3215" y="1606677"/>
            <a:ext cx="64883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Closure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590885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7269" y="1890141"/>
            <a:ext cx="353964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Agent calls the tool API directly, skipping the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3215" y="1890141"/>
            <a:ext cx="648839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Give the agent runtime NO direct tool credentials: tools are reachable only as Gateway targets, and outbound credentials live in AgentCore Identity's Token Vault (vended per-call by the Gateway, never stored in the runtime).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61641"/>
            <a:ext cx="11057839" cy="795527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46164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11933"/>
            <a:ext cx="590885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7269" y="2511933"/>
            <a:ext cx="3539642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Agent code makes arbitrary network calls (exfiltration / shadow tools)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3215" y="2511933"/>
            <a:ext cx="6488399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Network containment: run the Runtime in VPC mode with egress restricted to the Gateway endpoint (+ required AWS endpoints); Code Interpreter in Sandbox or VPC mode (Sandbox still allows DNS as a limited exfiltration channel — the Accelerator recommends Route 53 Resolver DNS Firewall or VPC mode for sensitive data).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25716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307461"/>
            <a:ext cx="590885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7269" y="3307461"/>
            <a:ext cx="353964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Agent uses its execution-role credentials to disable the policy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3215" y="3307461"/>
            <a:ext cx="648839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This is the critical one: any code in the session can read the execution role's credentials via the microVM metadata service (Accelerator: "any code executing within a tool session can access these credentials").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87896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§4.4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The five bypass routes and how each is closed — routes ④ – ⑤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75588"/>
            <a:ext cx="5908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7269" y="1275588"/>
            <a:ext cx="353964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Bypass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3215" y="1275588"/>
            <a:ext cx="64883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Closure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087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9052"/>
            <a:ext cx="590885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7269" y="1559052"/>
            <a:ext cx="353964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Any principal in the account weakens enforcement (confused deputy, leaked creds)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3215" y="1559052"/>
            <a:ext cx="648839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Account-level backstop: an SCP (or permission boundary) denying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UpdateGateway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/ policy-engine mutations except from a designated break-glass admin role. This holds even if route #3's role hygiene regresses.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130552"/>
            <a:ext cx="11057839" cy="62179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130552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80844"/>
            <a:ext cx="590885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7269" y="2180844"/>
            <a:ext cx="353964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Enforcement silently degrades (timeout, misconfig, LOG_ONLY left 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3215" y="2180844"/>
            <a:ext cx="648839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Fail-secure defaults do the first half: Cedar is default-deny and evaluation timeouts return automatic DENY. You own the second half: never run the engine in LOG_ONLY in production; alarm on CloudTrail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UpdateGateway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/policy-change events.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75234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980176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6025896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Route ③ is confirmed: 3 of 3 tool sessions read the execution role's credentials over the microVM metadata service. Route ⑤'s second half is yours — never leave a production engine in LOG_ONLY, and alarm on the CloudTrail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UpdateGateway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 event rather than on a mode value.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The containment pattern: the Gateway is the only path to a tool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" y="2276856"/>
            <a:ext cx="2514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Agent Runtime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untrusted model output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+ customer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13048" y="2276856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E7F4EA"/>
          </a:solidFill>
          <a:ln w="22225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AgentCore Gateway</a:t>
            </a:r>
            <a:br/>
            <a:r>
              <a:rPr sz="1050" b="1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Cedar permit / forbid</a:t>
            </a:r>
            <a:br/>
            <a:r>
              <a:rPr sz="1050" b="1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Hop #4 · #5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30568" y="2276856"/>
            <a:ext cx="21488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Tool targets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(MCP · inference)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90888" y="2276856"/>
            <a:ext cx="2194560" cy="141732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Token Vault</a:t>
            </a:r>
            <a:br/>
            <a:r>
              <a:rPr sz="1050" b="0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credentials vended</a:t>
            </a:r>
            <a:br/>
            <a:r>
              <a:rPr sz="1050" b="0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per 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" y="4517136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FCEBEA"/>
          </a:solidFill>
          <a:ln w="12700">
            <a:solidFill>
              <a:srgbClr val="B3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① Call the tool API directly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4517136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FCEBEA"/>
          </a:solidFill>
          <a:ln w="12700">
            <a:solidFill>
              <a:srgbClr val="B3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② Arbitrary egress / shadow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7848" y="4517136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CEBEA"/>
          </a:solidFill>
          <a:ln w="12700">
            <a:solidFill>
              <a:srgbClr val="B3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③ Read execution-role creds, disable the engine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01568" y="2985516"/>
            <a:ext cx="411480" cy="0"/>
          </a:xfrm>
          <a:prstGeom prst="line">
            <a:avLst/>
          </a:prstGeom>
          <a:ln w="2222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19088" y="2985516"/>
            <a:ext cx="411480" cy="0"/>
          </a:xfrm>
          <a:prstGeom prst="line">
            <a:avLst/>
          </a:prstGeom>
          <a:ln w="2222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79408" y="2985516"/>
            <a:ext cx="411480" cy="0"/>
          </a:xfrm>
          <a:prstGeom prst="line">
            <a:avLst/>
          </a:prstGeom>
          <a:ln w="15875">
            <a:solidFill>
              <a:srgbClr val="146EB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510028" y="3694176"/>
            <a:ext cx="5394960" cy="822960"/>
          </a:xfrm>
          <a:prstGeom prst="line">
            <a:avLst/>
          </a:prstGeom>
          <a:ln w="15875">
            <a:solidFill>
              <a:srgbClr val="B31D1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030468" y="3694176"/>
            <a:ext cx="1874520" cy="822960"/>
          </a:xfrm>
          <a:prstGeom prst="line">
            <a:avLst/>
          </a:prstGeom>
          <a:ln w="15875">
            <a:solidFill>
              <a:srgbClr val="B31D1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3813048" y="2985516"/>
            <a:ext cx="5943600" cy="1531620"/>
          </a:xfrm>
          <a:prstGeom prst="line">
            <a:avLst/>
          </a:prstGeom>
          <a:ln w="15875">
            <a:solidFill>
              <a:srgbClr val="B31D1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66928" y="6153912"/>
            <a:ext cx="146304" cy="91440"/>
          </a:xfrm>
          <a:prstGeom prst="rect">
            <a:avLst/>
          </a:prstGeom>
          <a:solidFill>
            <a:srgbClr val="1E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610819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enforced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80769" y="6153912"/>
            <a:ext cx="146304" cy="91440"/>
          </a:xfrm>
          <a:prstGeom prst="rect">
            <a:avLst/>
          </a:prstGeom>
          <a:solidFill>
            <a:srgbClr val="B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1937" y="610819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bypass route to close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998464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044184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Route ③ is the critical one and it is confirmed: 3 of 3 distinct tool sessions read the runtime's own execution role over the microVM metadata service at 169.254.169.254. Measured on one calendar day, so the amendment is deferred, not the finding. Routes ④ (account-level SCP) and ⑤ (silent degradation) are in §4.4's table.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§4.5.2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Code Interpreter: three network modes, three containment verdicts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Sandbox mode is not isolation: it still allows DNS, which is a limited but real exfiltration channel.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16966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3053" y="1606677"/>
            <a:ext cx="353964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Reachability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8999" y="1606677"/>
            <a:ext cx="5382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Containment verdict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169666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3053" y="1890141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Unrestricted internet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8999" y="1890141"/>
            <a:ext cx="538261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Dev/test only — a prompt-injected agent can exfiltrate freely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4169"/>
            <a:ext cx="11057839" cy="795527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11416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64461"/>
            <a:ext cx="1696669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Sandbox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3053" y="2164461"/>
            <a:ext cx="3539642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S3 + DNS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8999" y="2164461"/>
            <a:ext cx="5382615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Better, but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DNS is a real exfiltration channel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— the Accelerator's own words: "DNS queries represent a limited data channel — organizations processing sensitive data should evaluate whether VPC Mode provides a stronger security boundary." Mitigate with Route 53 Resolver DNS Firewall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90969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59989"/>
            <a:ext cx="169666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VPC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3053" y="2959989"/>
            <a:ext cx="353964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Only what your subnets/SGs allow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8999" y="2959989"/>
            <a:ext cx="5382615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Strongest boundary. ENIs created via the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AWSServiceRoleForBedrockAgentCoreNetwork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service-linked role; required endpoints: ECR, S3, CloudWatch Logs; DNS Firewall still recommended against DNS exfiltration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53148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§4.5.3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PrivateLink coverage, dated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Check this before designing a private-network deployment — and check it again yourself, because it moves.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48799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Primitive (see header note)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6370" y="1606677"/>
            <a:ext cx="286947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plane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2144" y="1606677"/>
            <a:ext cx="286947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 plane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487998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Runtime, Memory, Built-in Tools, Identity, Gateway,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6370" y="1890141"/>
            <a:ext cx="28694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2144" y="1890141"/>
            <a:ext cx="28694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4169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11416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64461"/>
            <a:ext cx="487998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Evaluations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6370" y="2164461"/>
            <a:ext cx="28694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AWS documents Supported as of 2026-08-09/10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(v1.2 said 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2144" y="2164461"/>
            <a:ext cx="28694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6222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612517"/>
            <a:ext cx="487998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6370" y="2612517"/>
            <a:ext cx="28694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AWS documents Supported as of 2026-08-09/10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(v1.2 said ❌)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2144" y="2612517"/>
            <a:ext cx="28694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AWS documents Supported as of 2026-08-09/10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(v1.2 said ❌)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01028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856731"/>
            <a:ext cx="25603" cy="4617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5902451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This matrix changed under measurement. Five dated archive snapshots (2026-04-12 → 2026-07-14) agree with v1.2 that Evaluations was "not yet supported", but the live page on 2026-08-09 </a:t>
            </a:r>
            <a:r>
              <a:rPr sz="900" b="1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and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 2026-08-10 marks Evaluations and Optimization as Supported on both planes. The header was also corrected from "Service" to "Primitive": the rows name AgentCore primitives, while PrivateLink attaches to endpoint services.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Network containment: VPC mode, an egress allowlist, and DNS as the leak nobody expects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28216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F3F6F9"/>
          </a:solidFill>
          <a:ln w="1143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92224"/>
            <a:ext cx="5312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Customer VPC — private subnets, no internet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" y="2276856"/>
            <a:ext cx="23317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Runtime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VPC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" y="3511296"/>
            <a:ext cx="23317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Code Interpreter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Sandbox or VPC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2276856"/>
            <a:ext cx="2331720" cy="100584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 w="12700">
            <a:solidFill>
              <a:srgbClr val="9A5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Route 53 Resolver</a:t>
            </a:r>
            <a:br/>
            <a:r>
              <a:rPr sz="1050" b="0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DNS Firewall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3511296"/>
            <a:ext cx="23317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S3 Gateway endpoint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(session storage)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56248" y="2093976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1B2631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Egress</a:t>
            </a:r>
            <a:br/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allowlist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9407" y="2093976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E7F4EA"/>
          </a:solidFill>
          <a:ln w="1270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AgentCore Gateway endpoint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9407" y="2862072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Bedrock model endpoints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9407" y="3630168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9407" y="4398264"/>
            <a:ext cx="260604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CloudWatch Logs · X-Ray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10128" y="2779776"/>
            <a:ext cx="3246120" cy="82296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310128" y="3602736"/>
            <a:ext cx="3246120" cy="411479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659367" y="2423160"/>
            <a:ext cx="320040" cy="1179576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659367" y="3191256"/>
            <a:ext cx="320040" cy="41148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59367" y="3602736"/>
            <a:ext cx="320040" cy="356616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659367" y="3602736"/>
            <a:ext cx="320040" cy="1152144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66928" y="5998464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044184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Sandbox mode still allows DNS, which is a limited exfiltration channel — hence the DNS Firewall. Enforcing VPC deployment is an IAM job (VPC condition keys on the deployment role), not a connectivity job. F5-7b tried to measure whether egress actually gates the image pull and returned </a:t>
            </a:r>
            <a:r>
              <a:rPr sz="900" b="0" i="1">
                <a:solidFill>
                  <a:srgbClr val="9A5500"/>
                </a:solidFill>
                <a:latin typeface="Arial"/>
                <a:ea typeface="Arial"/>
                <a:cs typeface="Arial"/>
              </a:rPr>
              <a:t>INCONCLUSIVE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: all three arms timed out client-side within a 9 ms spread, so nothing was read.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3: AFTER — Output Safety and Continuous Improvement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Arial"/>
                <a:cs typeface="Arial"/>
              </a:rPr>
              <a:t>The output checkpoint, then the part most designs never build: the loop that feeds production behaviour back into the policy.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800600"/>
            <a:ext cx="9509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Arial"/>
                <a:cs typeface="Arial"/>
              </a:rPr>
              <a:t>§5.1 Output evaluation (Hop #6)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Arial"/>
                <a:cs typeface="Arial"/>
              </a:rPr>
              <a:t>§5.2 Continuous evaluation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Arial"/>
                <a:cs typeface="Arial"/>
              </a:rPr>
              <a:t>§5.3 Optimization feedback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Output evaluation: the streaming case is the one that surprises people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85416"/>
            <a:ext cx="2148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InvokeModel /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Converse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72968" y="2185416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Full response assembled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2185416"/>
            <a:ext cx="2331720" cy="960120"/>
          </a:xfrm>
          <a:prstGeom prst="roundRect">
            <a:avLst>
              <a:gd name="adj" fmla="val 6000"/>
            </a:avLst>
          </a:prstGeom>
          <a:solidFill>
            <a:srgbClr val="E7F4EA"/>
          </a:solidFill>
          <a:ln w="1270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Hop #6 evaluates</a:t>
            </a:r>
            <a:br/>
            <a:r>
              <a:rPr sz="1050" b="0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the whole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25128" y="2185416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User sees all or nothing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014215"/>
            <a:ext cx="2148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ConverseStream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72968" y="4014215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Chunks arrive incrementally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4014215"/>
            <a:ext cx="2331720" cy="96012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 w="12700">
            <a:solidFill>
              <a:srgbClr val="9A5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Hop #6 evaluates</a:t>
            </a:r>
            <a:br/>
            <a:r>
              <a:rPr sz="1050" b="0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per buffer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25128" y="4014215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 w="12700">
            <a:solidFill>
              <a:srgbClr val="9A5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User may see text, then a block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07208" y="2665476"/>
            <a:ext cx="36576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61888" y="2665476"/>
            <a:ext cx="36576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659367" y="2665476"/>
            <a:ext cx="365761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07208" y="4494276"/>
            <a:ext cx="36576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61888" y="4494276"/>
            <a:ext cx="36576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59367" y="4494276"/>
            <a:ext cx="365761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66928" y="5875020"/>
            <a:ext cx="25603" cy="4617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592074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v1.2's "Automated Reasoning has no streaming support" is withdrawn: ConverseStream accepts guardrailConfig and the SDK models 132 AR assessment paths. The streaming *modes* claim (BP#1) is left as written — F1-12 returned </a:t>
            </a:r>
            <a:r>
              <a:rPr sz="900" b="0" i="1">
                <a:solidFill>
                  <a:srgbClr val="9A5500"/>
                </a:solidFill>
                <a:latin typeface="Arial"/>
                <a:ea typeface="Arial"/>
                <a:cs typeface="Arial"/>
              </a:rPr>
              <a:t>INCONCLUSIVE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, and </a:t>
            </a:r>
            <a:r>
              <a:rPr sz="900" b="0" i="1">
                <a:solidFill>
                  <a:srgbClr val="9A5500"/>
                </a:solidFill>
                <a:latin typeface="Arial"/>
                <a:ea typeface="Arial"/>
                <a:cs typeface="Arial"/>
              </a:rPr>
              <a:t>INCONCLUSIVE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 licenses no amendment. Reasoning/chain-of-thought blocks: both placement arms were refused with ValidationException, so whether they are evaluated is still unmeasured.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§5.2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Continuous evaluation: three modes, and which one is for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567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On-demand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— analyses a chosen set of spans directly. This is the development and spot-check mode; it answers "what happened in this session?"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93240"/>
            <a:ext cx="11057839" cy="567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Batch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— runs evaluators against many agent sessions in one asynchronous job. This is the regression mode: run it before a policy or prompt change ships.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61184"/>
            <a:ext cx="11057839" cy="567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Online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— continuously samples LIVE production interactions (percentage-based, e.g. 10%) with no manual trigger. This is the one that catches drift you did not predict.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29128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Verify PrivateLink posture before you enable Evaluations in a private network.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AWS's live page now documents Evaluations and Optimization as PrivateLink-Supported on both planes — a change from v1.2, dated 2026-08-09/10 and replicated.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442208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✓ </a:t>
            </a:r>
            <a:r>
              <a:rPr sz="1400" b="0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The capability inventory here — which modes exist and what each does — was confirmed as written.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§5.3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The optimization feedback loop — what closes the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Analyse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production traces and evaluation outputs.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86992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Generate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optimized system prompts or tool descriptions (Recommendations).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48688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Validate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offline with batch evaluations before anything reaches traffic.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10384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Confirm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with A/B testing on live traffic, via Gateway traffic splitting.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72080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Then feed the result back into the thresholds, the Cedar policies and the prompts — which is the dashed arrow on the architecture diagram, and the only reason this design is called a closed loop.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185160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Re-run your guardrail regression set periodically even if you change nothing.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AWS auto-updates the underlying guardrail models with no action on your part, so "we did not touch it" is not a reason to expect the same behaviour.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98240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4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Auto-update drift guidance itself is </a:t>
            </a:r>
            <a:r>
              <a:rPr sz="14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left as v1.2 wrote it</a:t>
            </a:r>
            <a:r>
              <a:rPr sz="14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 — F3-11 is </a:t>
            </a:r>
            <a:r>
              <a:rPr sz="1400" b="0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INCONCLUSIVE</a:t>
            </a:r>
            <a:r>
              <a:rPr sz="14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, with dated re-comparisons still owed at +7 and +30 days.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06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Hop-by-Hop Latency Monitoring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Arial"/>
                <a:cs typeface="Arial"/>
              </a:rPr>
              <a:t>The measured budget, the metrics that actually publish datapoints, the trace shape, and the alarms that can really fire.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800600"/>
            <a:ext cx="9509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Arial"/>
                <a:cs typeface="Arial"/>
              </a:rPr>
              <a:t>§6.1 Latency budget (measured)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Arial"/>
                <a:cs typeface="Arial"/>
              </a:rPr>
              <a:t>§6.2 CloudWatch metrics per hop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Arial"/>
                <a:cs typeface="Arial"/>
              </a:rPr>
              <a:t>§6.3 Distributed tracing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Arial"/>
                <a:cs typeface="Arial"/>
              </a:rPr>
              <a:t>§6.4 Alerting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§6.1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The latency budget, measured — n = 1000 per hop, us-east-1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3878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This is the table that v1.2 got wrong. Every bolded figure replaces an estimate, and the "refuted" markers are per-hop verdicts, not a general disclaimer.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22882"/>
            <a:ext cx="11057839" cy="46634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73174"/>
            <a:ext cx="35632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Hop 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709" y="1773174"/>
            <a:ext cx="18642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3225" y="1773174"/>
            <a:ext cx="13615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1112" y="1773174"/>
            <a:ext cx="23668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Measured latency (p50 / p90 / p99)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4257" y="1773174"/>
            <a:ext cx="18642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v1.2 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4773" y="1773174"/>
            <a:ext cx="23668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Monitoring Metric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18922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239518"/>
            <a:ext cx="35632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2709" y="2239518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Gateway Guardrail (Input)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3225" y="2239518"/>
            <a:ext cx="1361583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AgentCore Gateway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1112" y="2239518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401 / 528 / 779 ms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(p50 CI [396, 406])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4257" y="2239518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50–200ms —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refuted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4773" y="2239518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Gateway Latency + GuardrailLatency (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AWS/Bedrock-AgentCore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637282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2637282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687574"/>
            <a:ext cx="35632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2709" y="2687574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Bedrock Guardrail (Input)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3225" y="2687574"/>
            <a:ext cx="1361583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Bedrock Guardrails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1112" y="2687574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231 / 374 / 622 ms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(p50 CI [226, 235])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4257" y="2687574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100–500ms —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refuted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(p99 above band)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4773" y="2687574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InvocationLatency (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AWS/Bedrock/Guardrails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namespace)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08533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135630"/>
            <a:ext cx="35632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2709" y="3135630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Model Inference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3225" y="3135630"/>
            <a:ext cx="1361583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Bedrock Runtime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1112" y="3135630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500ms–30s *(not separately re-measured; carried from v1.2)*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4257" y="3135630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500ms–30s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4773" y="3135630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InvocationLatency (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AWS/Bedrock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namespace, model-specific)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533393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3533393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583686"/>
            <a:ext cx="35632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2709" y="3583686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Tool Auth (Cedar Policy)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3225" y="3583686"/>
            <a:ext cx="1361583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AgentCore Policy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1112" y="3583686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55 / 70 / 94 ms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(p50 CI [54, 56])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4257" y="3583686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5–50ms —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refuted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4773" y="3583686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Policy invocation spans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39814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031741"/>
            <a:ext cx="35632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2709" y="4031741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Tool Guardrails (per call)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3225" y="4031741"/>
            <a:ext cx="1361583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AgentCore Gateway Policy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1112" y="4031741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401 / 528 / 779 ms × N calls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(p50 CI [396, 406])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4257" y="4031741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50–200ms × N —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refuted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4773" y="4031741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GuardrailLatency (ToolName dimension)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4429506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6928" y="442950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479797"/>
            <a:ext cx="35632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2709" y="4479797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Bedrock Guardrail (Output)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53225" y="4479797"/>
            <a:ext cx="1361583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Bedrock Guardrails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1112" y="4479797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234 / 366 / 662 ms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(p50 CI [228, 238])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4257" y="4479797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100–500ms —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refuted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(p99 above band)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4773" y="4479797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guardrailProcessingLatency (invocation trace)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4877562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4927854"/>
            <a:ext cx="35632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1142709" y="4927854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Total (single tool call)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53225" y="4927854"/>
            <a:ext cx="1361583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3" name="TextBox 62"/>
          <p:cNvSpPr txBox="1"/>
          <p:nvPr/>
        </p:nvSpPr>
        <p:spPr>
          <a:xfrm>
            <a:off x="4661112" y="4927854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1483 / 1722 / 2107 ms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(p50 CI [1474, 1491])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74257" y="4927854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~800ms–31s+ —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confirmed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84773" y="4927854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End-to-end trace duration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532561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6928" y="5980176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6656" y="6025896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The end-to-end total was </a:t>
            </a:r>
            <a:r>
              <a:rPr sz="900" b="1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confirmed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 even though five of six components were refuted: v1.2's ~800 ms–31 s band is wide enough to contain the measured 1483 ms p50. A correct total over wrong parts is worth stating plainly rather than presenting the table as uniformly wrong.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§6.2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AgentCore Gateway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75588"/>
            <a:ext cx="24055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91889" y="1275588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4904" y="1275588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087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9052"/>
            <a:ext cx="240550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889" y="1559052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Initial response time — time from request received to first response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4904" y="1559052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Measures gateway processing incl. guardrail/policy evaluation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56816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95681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007108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91889" y="2007108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Total end-to-end processing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4904" y="2007108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Overall gateway hop latency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3113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281428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Invocations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91889" y="2281428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Total number of requests made to the Data Plane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4904" y="2281428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Volume tracking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505456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250545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555748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TargetExecutionTime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889" y="2555748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Time to execute the target (Lambda/OpenAPI/etc.)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4904" y="2555748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Isolates target contribution to total Latency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77977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830068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Throttles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91889" y="2830068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Requests throttled (HTTP 429)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4904" y="2830068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Capacity planning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054095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305409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104387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SystemErrors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91889" y="3104387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Requests failed with 5xx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4904" y="3104387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Availability monitoring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32841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378707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UserErrors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91889" y="3378707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Requests failed with 4xx (except 429)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4904" y="3378707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Client error monitoring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60273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§6.2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AgentCore Policy metrics — including the ones that publish nothing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75588"/>
            <a:ext cx="24055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91889" y="1275588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4904" y="1275588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087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9052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889" y="155905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Time spent in guardrail evaluation within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4904" y="155905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Hop #1/#5 latency isolation.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Published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783080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78308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33372"/>
            <a:ext cx="240550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ConfidenceScore / ConfidenceThreshold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91889" y="1833372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Documented as observed score vs. configured threshold per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4904" y="1833372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⚠️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Measured ABSENT — neither metric published any datapoint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on traffic that produced scores.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3113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281428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AllowDecisions / DenyDecisions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91889" y="2281428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Authorization 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4904" y="2281428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Rejection-rate tracking.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Both published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505456"/>
            <a:ext cx="11057839" cy="62179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250545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555748"/>
            <a:ext cx="2405505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SuppressOutputs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889" y="2555748"/>
            <a:ext cx="4106711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Tool outputs suppressed by suppressOutput effect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4904" y="2555748"/>
            <a:ext cx="4106711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Hop #5 filtering rate. *(Publishing condition never exercised by the validation — untested, not confirmed absent.)*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12724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177540"/>
            <a:ext cx="240550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LogOnlyMatches / LogOnlyDecisionFlips / LogOnlyEvalIncomplete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91889" y="3177540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LOG_ONLY policy would-be matches, decision changes vs. ACTIVE policies, and incomplete evaluations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4904" y="3177540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LogOnlyMatches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and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LogOnlyDecisionFlips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published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575303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3575303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625596"/>
            <a:ext cx="240550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MismatchErrors / TotalMismatchedPolicies / PolicyMismatch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91889" y="3625596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 evaluations that failed due to missing attributes or type mismatches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4904" y="3625596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These do fire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. Two v1.3 corrections to how to read them.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02335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073651"/>
            <a:ext cx="240550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Policy spans (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aws/spans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log group)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91889" y="4073651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Per-operation evaluation detail (AuthorizeAction etc.)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4904" y="4073651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Trace-level hop analysis.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Confirmed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47141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" y="5980176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6025896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ConfidenceScore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,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ConfidenceThreshold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 and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TemporalLatency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 were measured </a:t>
            </a:r>
            <a:r>
              <a:rPr sz="900" b="1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absent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 — no datapoint at any dimension combination.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LogOnlyEvalIncomplete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 never published and lists 0 dimension combinations, so the alarm v1.2 prescribed on it cannot fire. If you keep it, treat missing data as breaching and add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LogOnlyMatches &gt; 0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 as the positive gate.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§6.2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Bedrock Guardrails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75588"/>
            <a:ext cx="24055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91889" y="1275588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4904" y="1275588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087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9052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Invocations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889" y="155905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Number of guardrail API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4904" y="155905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Volume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783080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78308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33372"/>
            <a:ext cx="240550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InvocationLatency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91889" y="1833372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Latency of guardrail evaluation (ApplyGuardrail operation)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4904" y="1833372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 overhead for standalone calls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3113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281428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InvocationsIntervened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91889" y="2281428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Invocations where the guardrail took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4904" y="2281428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Block/mask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505456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250545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555748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TextUnitCount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889" y="2555748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Text units processed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4904" y="2555748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Cost tracking (billing is per text unit)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77977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830068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InvocationClientErrors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91889" y="2830068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Client-side errors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4904" y="2830068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Error rate monitoring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054095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305409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104387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InvocationServerErrors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91889" y="3104387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Server-side errors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4904" y="3104387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Availability monitoring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32841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378707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InvocationThrottles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91889" y="3378707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Throttled requests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4904" y="3378707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Capacity planning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60273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§6.2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Bedrock Runtime and AgentCore Runtime session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Two short tables from §6.2, shown together — Bedrock Runtime first, then Runtime session.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24055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1889" y="1606677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4904" y="1606677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InvocationLatency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1889" y="189014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Full inference request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4904" y="189014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Model inference duration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4169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11416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64461"/>
            <a:ext cx="240550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OutputTokensPerSecond (OTPS)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1889" y="2164461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Token generation throughput.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4904" y="2164461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Distinguish model-side throughput degradation from longer outputs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6222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612517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Session 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91889" y="2612517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End-to-end session duration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4904" y="2612517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Total user-perceived latency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836544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283654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886836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Token usage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91889" y="2886836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Tokens consumed per session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4904" y="2886836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Cost tracking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11086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161156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Error rates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91889" y="3161156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Failures per session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4904" y="3161156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Reliability monitoring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38518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What the trace tree actually contains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9344"/>
            <a:ext cx="7360920" cy="3886200"/>
          </a:xfrm>
          <a:prstGeom prst="roundRect">
            <a:avLst>
              <a:gd name="adj" fmla="val 3000"/>
            </a:avLst>
          </a:prstGeom>
          <a:solidFill>
            <a:srgbClr val="F3F6F9"/>
          </a:solidFill>
          <a:ln w="1143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673352"/>
            <a:ext cx="7141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One session · 5 operations · InvokeTool pairs 1:1 with AuthorizeAction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" y="2093976"/>
            <a:ext cx="67208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AgentCore.Gateway.Initialize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" y="2752344"/>
            <a:ext cx="67208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AgentCore.Gateway.NotificationsInitialized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" y="3410711"/>
            <a:ext cx="67208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AgentCore.Gateway.InvokeTool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1328" y="4069080"/>
            <a:ext cx="62179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AgentCore.Gateway.InvokeTool.&lt;toolName&gt;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81328" y="4727448"/>
            <a:ext cx="62179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AgentCore.Policy.AuthorizeAction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85048" y="2093976"/>
            <a:ext cx="3200400" cy="1417320"/>
          </a:xfrm>
          <a:prstGeom prst="roundRect">
            <a:avLst>
              <a:gd name="adj" fmla="val 6000"/>
            </a:avLst>
          </a:prstGeom>
          <a:solidFill>
            <a:srgbClr val="E7F4EA"/>
          </a:solidFill>
          <a:ln w="1270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Present per span: aws.request.id · authorization_decision · determining_policies[] · latency_ms / overhead_latency_ms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5048" y="3648456"/>
            <a:ext cx="3200400" cy="1005840"/>
          </a:xfrm>
          <a:prstGeom prst="roundRect">
            <a:avLst>
              <a:gd name="adj" fmla="val 6000"/>
            </a:avLst>
          </a:prstGeom>
          <a:solidFill>
            <a:srgbClr val="FCEBEA"/>
          </a:solidFill>
          <a:ln w="12700">
            <a:solidFill>
              <a:srgbClr val="B3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Absent: any guardrail score, ConfidenceScore, ConfidenceThreshold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5048" y="4791456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 w="12700">
            <a:solidFill>
              <a:srgbClr val="9A5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Spans lag the request by ≈50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998464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6044184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The request-id join is measured, not assumed: 242 of 250 span aws.request.id values (96.8%) match a client-observed x-amzn-requestid. The 8 that do not are the Initialize spans, whose request ids were never recorded as trials. Enable CloudWatch Transaction Search first — with tracing off, the same traffic produced 0 spans.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§6.4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Alerting strategy — and the period every alarm needs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Six of these seven alarms stated no period at all in v1.2, which makes them unimplementable as written.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32561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2492" y="1606677"/>
            <a:ext cx="32561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4904" y="1606677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Gateway guardrail latency spike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2492" y="1890141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Latency &gt; P99 + 50%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4904" y="189014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Investigate guardrail configuration complexity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4169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11416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64461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Bedrock guardrail latency spike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2492" y="2164461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InvocationLatency &gt; P99 + 50%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4904" y="216446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Check for increased input size or throttling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38848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438781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End-to-end session 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2492" y="2438781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Total duration &gt; SLA threshold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4904" y="243878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Identify bottleneck hop via traces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662808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266280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713100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 throttling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2492" y="2713100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InvocationThrottles &gt;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4904" y="2713100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Request quota increase or reduce call volume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93712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987420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High rejection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2492" y="2987420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Block rate &gt; 20% in 5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4904" y="2987420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Investigate potential attack or misconfigured threshold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211448"/>
            <a:ext cx="11057839" cy="62179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321144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261740"/>
            <a:ext cx="325610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Incomplete LOG_ONLY evaluation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42492" y="3261740"/>
            <a:ext cx="325610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⚠️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LogOnlyEvalIncomplete &gt; 0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cannot fire — this metric published no datapoints and lists 0 dimension combinations in this account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4904" y="3261740"/>
            <a:ext cx="4106711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Do not rely on this alarm as written: a CloudWatch alarm on a never-published metric sits in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INSUFFICIENT_DATA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, not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ALARM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3324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883532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Policy engine mode change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42492" y="3883532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CloudTrail UpdateGateway event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4904" y="388353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Verify the change was authorized (Section 3.1 BP#5).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1075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5980176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6025896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Set every period ≥ 60 s.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 Measured metric publish lag is p90 = 11.5 s at n = 30, so a shorter period alarms on the gap rather than on the behaviour. Alarm on configuration change via the CloudTrail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UpdateGateway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 call — not on a mode value, which is not reliably readable.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07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Best Practices: Latency Optimization with Guardrails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Arial"/>
                <a:cs typeface="Arial"/>
              </a:rPr>
              <a:t>Seven design principles, nine anti-patterns, and a per-hop policy distribution that stops you paying for the same check twice.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§7.1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Design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Quoted from §7.1, abridged at sentence boundaries. Principle #3's premise was rescoped after measurement.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64354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9925" y="1606677"/>
            <a:ext cx="38029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9153" y="1606677"/>
            <a:ext cx="617246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Rationale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6435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9925" y="1890141"/>
            <a:ext cx="380292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Layer guardrails by risk, not by 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9153" y="1890141"/>
            <a:ext cx="617246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Not every checkpoint needs every policy. Match guardrail scope to the actual risk at each hop.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287905"/>
            <a:ext cx="11057839" cy="62179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28790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38197"/>
            <a:ext cx="643541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9925" y="2338197"/>
            <a:ext cx="38029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Fail fast at the outermost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9153" y="2338197"/>
            <a:ext cx="6172461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Block obviously harmful content at the Gateway (Hop #1) to avoid unnecessary downstream processing — and note the billing asymmetry: input blocks avoid model-inference charges entirely; output blocks do not.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90969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59989"/>
            <a:ext cx="6435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9925" y="2959989"/>
            <a:ext cx="380292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Use deterministic controls for authorization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9153" y="2959989"/>
            <a:ext cx="617246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Cedar Policy (Hop #4) is faster and more reliable than guardrails for tool-level access control. Cedar is deterministic and fail-secure (timeout → DENY).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57752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357752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08044"/>
            <a:ext cx="6435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9925" y="3408044"/>
            <a:ext cx="380292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Monitor every hop independently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9153" y="3408044"/>
            <a:ext cx="617246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End-to-end latency hides which hop is degrading. Use distributed tracing spans and per-hop metrics (Section 6.2) for each checkpoint.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80580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56100"/>
            <a:ext cx="643541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9925" y="3856100"/>
            <a:ext cx="38029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Deduplicate policies across layers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79153" y="3856100"/>
            <a:ext cx="6172461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If Gateway Guardrails handle prompt attacks, don't repeat the same check at the model level — but only after confirming Regional availability (Hop #1) and input tagging (Hop #2) so deduplication doesn't create a gap.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427600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42760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77892"/>
            <a:ext cx="6435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29925" y="4477892"/>
            <a:ext cx="380292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Batch for high-throughput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79153" y="4477892"/>
            <a:ext cx="617246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Use content-array batching for ApplyGuardrail API calls. Treat caching as a last resort with strict constraints (Section 3.3 BP#1).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87565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925948"/>
            <a:ext cx="64354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9925" y="4925948"/>
            <a:ext cx="38029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Set latency budgets per hop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79153" y="4925948"/>
            <a:ext cx="617246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Define acceptable latency for each checkpoint and alert when exceeded.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514997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5980176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6025896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The "guardrail evaluation is non-deterministic" premise no longer carries recommendations: no run-to-run variation was observed on fixed inputs across three cases at n = 300 each. AWS's documented statement is retained — the document simply no longer *rests* advice on observed variation.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Threshold tuning, corrected: the score is in the application logs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414016"/>
            <a:ext cx="2011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1 · Deploy in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LOG_ONLY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(shadow mode)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6352" y="2414016"/>
            <a:ext cx="2011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2 · Read scores from the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application logs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— not CloudWatch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5776" y="2414016"/>
            <a:ext cx="2011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3 · Gate on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LogOnlyMatches &gt; 0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before reading flips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414016"/>
            <a:ext cx="2011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4 · Choose the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threshold from the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observed distribution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64624" y="2414016"/>
            <a:ext cx="2011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5 · Flip to ACTIVE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with an explicit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validationMode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78608" y="3259836"/>
            <a:ext cx="237744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28032" y="3259836"/>
            <a:ext cx="237744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77456" y="3259836"/>
            <a:ext cx="237744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26880" y="3259836"/>
            <a:ext cx="237744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570463" y="4105656"/>
            <a:ext cx="320040" cy="868680"/>
          </a:xfrm>
          <a:prstGeom prst="line">
            <a:avLst/>
          </a:prstGeom>
          <a:ln w="15875">
            <a:solidFill>
              <a:srgbClr val="FF99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572768" y="4974336"/>
            <a:ext cx="9317735" cy="0"/>
          </a:xfrm>
          <a:prstGeom prst="line">
            <a:avLst/>
          </a:prstGeom>
          <a:ln w="15875">
            <a:solidFill>
              <a:srgbClr val="FF99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572768" y="4105656"/>
            <a:ext cx="0" cy="868680"/>
          </a:xfrm>
          <a:prstGeom prst="line">
            <a:avLst/>
          </a:prstGeom>
          <a:ln w="15875">
            <a:solidFill>
              <a:srgbClr val="FF99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66928" y="4882896"/>
            <a:ext cx="393192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89204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re-tune as traffic and models change — AWS auto-updates the guardrail models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998464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6044184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body.policy.guardrailFindings.&lt;policy&gt;.contentFilter[].score, and it is a JSON </a:t>
            </a:r>
            <a:r>
              <a:rPr sz="900" b="1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string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. Sub-threshold findings are censored — you see what crossed, not the full distribution. Three rigorous probes reported the score absent before it was found, because all three surveyed the surfaces the document named.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§7.2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Anti-patterns to avoid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Each row is a shape that looks responsible and costs latency, safety, or both.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38029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Anti-Pattern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9308" y="1606677"/>
            <a:ext cx="301307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8690" y="1606677"/>
            <a:ext cx="38029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38029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Enabling ALL guardrail policies at EVERY hop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9308" y="1890141"/>
            <a:ext cx="301307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Excessive latency accumulation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8690" y="1890141"/>
            <a:ext cx="38029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Apply minimum necessary policies per hop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4169"/>
            <a:ext cx="11057839" cy="795527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11416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64461"/>
            <a:ext cx="3802924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Using guardrails for tool authorization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9308" y="2164461"/>
            <a:ext cx="3013078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Probabilistic detection with measured gaps (e.g. 9 of 31 PII entity types refuted, PROMPT_LEAKAGE recall 0.36 pooled) — and bypassable via prompt injection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8690" y="2164461"/>
            <a:ext cx="3802924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Use Cedar Policy for deterministic authorization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90969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59989"/>
            <a:ext cx="38029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Guardrail-only policy set in ENFORCE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9308" y="2959989"/>
            <a:ext cx="301307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Default-deny blocks ALL traffic without an explicit permit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8690" y="2959989"/>
            <a:ext cx="38029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Always include a baseline permit policy — and create it with an explicit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validationMode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, or the create silently settles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CREATE_FAILED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(Section 3.1)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531488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53148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581780"/>
            <a:ext cx="38029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No observability instrumentation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9308" y="3581780"/>
            <a:ext cx="301307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Cannot identify latency bottlenecks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8690" y="3581780"/>
            <a:ext cx="38029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Enable full distributed tracing from day 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80580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56100"/>
            <a:ext cx="380292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Same guardrail thresholds for all content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9308" y="3856100"/>
            <a:ext cx="301307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Over-blocking legitimate content or under-blocking harmful content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8690" y="3856100"/>
            <a:ext cx="380292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Tune thresholds per hop and content type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25386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§7.2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Anti-patterns to avoid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75588"/>
            <a:ext cx="38029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Anti-Pattern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9308" y="1275588"/>
            <a:ext cx="301307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8690" y="1275588"/>
            <a:ext cx="38029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087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9052"/>
            <a:ext cx="380292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Ignoring guardrail throttling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9308" y="1559052"/>
            <a:ext cx="301307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Silent failures under 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8690" y="1559052"/>
            <a:ext cx="380292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Monitor InvocationThrottles and implement retry/backoff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56816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95681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007108"/>
            <a:ext cx="380292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Skipping guardrails on external-content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9308" y="2007108"/>
            <a:ext cx="301307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Tool responses are the primary indirect-prompt-injection vector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8690" y="2007108"/>
            <a:ext cx="380292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Apply prompt-attack + content guardrails to untrusted tool outputs (Section 4.2)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404872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455164"/>
            <a:ext cx="3802924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Classic-tier guardrails on non-EN/FR/ES traffic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9308" y="2455164"/>
            <a:ext cx="3013078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"Guardrails are ineffective with languages that aren't supported" — measured: Classic-tier detection on zh/ja/ko attack content was 0 [0, 0.0175] at n=216, and the failure is silent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8690" y="2455164"/>
            <a:ext cx="3802924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Use Standard tier (and plan for its cross-Region inference requirement)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374135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37413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424427"/>
            <a:ext cx="38029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Manual prompt optimization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9308" y="3424427"/>
            <a:ext cx="301307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Slow, inconsistent, not evidence-based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8690" y="3424427"/>
            <a:ext cx="38029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Use AgentCore Optimization for automated improvement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64845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5980176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6025896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The throttling anti-pattern is </a:t>
            </a:r>
            <a:r>
              <a:rPr sz="900" b="1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unconfirmed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: F9-3 achieved 182.2 rps against a documented 100 rps ceiling and 0 of 480 responses were throttled, so the silent-pass question was never put. The advice stands on reasoning, not on a measurement.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§7.3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Recommended guardrail distribution per hop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The point of the distribution is to check each risk at the cheapest hop that can see it — and not again afterwards.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24055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1889" y="1606677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Recommended Policies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4904" y="1606677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Rationale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Gateway (Input)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1889" y="189014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Prompt Attack (HIGH threshold), Content Filter (MEDIUM)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4904" y="189014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Fast early blocking of obvious threats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4169"/>
            <a:ext cx="11057839" cy="795527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11416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64461"/>
            <a:ext cx="2405505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Bedrock Guardrails (Input)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1889" y="2164461"/>
            <a:ext cx="4106711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Denied Topics, Sensitive Info, Content Filter (fine-grained), Prompt Attack (with input tagging — untagged InvokeModel input is measurably not scanned: recall 0 [0, 0.031] at n=120 )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4904" y="2164461"/>
            <a:ext cx="4106711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Comprehensive input safety after gateway filter — but verify the specific PII entity types you depend on; 9 of 31 documented types were refuted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90969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59989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Cedar Policy (Tool Auth)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91889" y="2959989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Tool-level allow/deny, parameter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4904" y="2959989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Deterministic authorization — no ML overhead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184016"/>
            <a:ext cx="11057839" cy="11430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18401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34308"/>
            <a:ext cx="2405505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Tool I/O Guardrails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91889" y="3234308"/>
            <a:ext cx="4106711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Sensitive Info (PII on tool responses); Prompt Attack on external/untrusted tool responses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4904" y="3234308"/>
            <a:ext cx="4106711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Reduces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— does not prevent — data leakage and indirect prompt injection from tool outputs, and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the reduction is unmeasured in this study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: no case observed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suppressOutput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suppressing output (F1-17 </a:t>
            </a:r>
            <a:r>
              <a:rPr sz="1139" b="0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INCONCLUSIVE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, static API-surface read with no operation invoked) and no case measured prompt-attack detection on tool outputs.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32701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377308"/>
            <a:ext cx="240550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Bedrock Guardrails (Output)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91889" y="4377308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Content Filter, Sensitive Info, Contextual Grounding (within its character limits)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4904" y="4377308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Final safety check before user sees response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775073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08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 Checklist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Arial"/>
                <a:cs typeface="Arial"/>
              </a:rPr>
              <a:t>Four phases. The bolded items are the ones a reader following v1.2 verbatim would have got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§8 Phase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Phase 1 — Foundation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Pin </a:t>
            </a:r>
            <a:r>
              <a:rPr sz="1400" b="1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botocore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/</a:t>
            </a:r>
            <a:r>
              <a:rPr sz="1400" b="1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boto3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≥ 1.43.32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before writing any policy code — 1.43.30–.31 expose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InvokeGuardrailChecks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without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enforcementMode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, and the bundled AWS CLI v2 has no policy-engine subcommands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8376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Create Bedrock Guardrail resources with per-direction input/output settings.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45208"/>
            <a:ext cx="11057839" cy="719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Verify tier against traffic language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— non-EN/FR/ES traffic REQUIRES Standard, and confirm data residency allows Standard's mandatory cross-Region inference.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Also test your own denied-topic definition lengths: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the documented 1,000-char Standard limit was rejected with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ValidationException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64536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Set up the Gateway with a Policy Engine — and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confirm Guardrails-in-policy in YOUR Region.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Do not plan from v1.2's five-Region list; it is refuted, but a create acceptance is control-plane only and ap-southeast-1 was never probed.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77616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Write an explicit baseline permit policy BEFORE enabling ENFORCE, and pass an explicit </a:t>
            </a:r>
            <a:r>
              <a:rPr sz="1400" b="1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validationMode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.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Poll the policy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status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; a 202 is not success.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790695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Define Cedar policies for tool authorization, and configure guardrails in the Gateway policy — thresholds are mandatory in hand-written policies.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303775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Configure input tagging (random </a:t>
            </a:r>
            <a:r>
              <a:rPr sz="1400" b="1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tagSuffix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) wherever prompt-attack filtering is expected at the model layer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— untagged recall measured 0 [0, 0.031].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816855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Apply network containment (§4.5): Runtime VPC mode with an egress allowlist, Code Interpreter Sandbox/VPC + DNS Firewall, VPC condition keys on the deployment IAM role.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329935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Enable CloudWatch Transaction Search, then AgentCore Observability tracing, then instrument your own code with ADOT for custom spans. Spans lag ≈50 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§8 Phase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Phase 2 —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719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Create a hop-by-hop latency dashboard (GuardrailLatency, InvocationLatency, guardrailProcessingLatency).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Do not add </a:t>
            </a:r>
            <a:r>
              <a:rPr sz="1400" b="1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ConfidenceScore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or </a:t>
            </a:r>
            <a:r>
              <a:rPr sz="1400" b="1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ConfidenceThreshold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— neither published a datapoint.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On any mismatch metric chart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SampleCount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at one pinned dimension combination, not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across dimensions, which reads up to 6× the request 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44624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Set alarms per checkpoint with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period ≥ 60 s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(measured publish lag p90 = 11.5 s), and alarm on configuration change keyed on the CloudTrail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UpdateGateway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call rather than on a mode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457704"/>
            <a:ext cx="11057839" cy="719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Make policy-denial detection surface-aware: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match the MCP shape (HTTP 200 + JSON-RPC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-32002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)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and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the inference shape (HTTP 403 +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permission_error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),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and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check advertised tool count — under an active forbid,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tools/list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succeeds with an empty list and raises no error to alarm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77032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!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LogOnlyEvalIncomplete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is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not usable as v1.2 prescribed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— it published nothing and lists 0 dimension combinations. If you keep it, treat missing data as breaching and add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LogOnlyMatches &gt; 0</a:t>
            </a:r>
            <a:r>
              <a:rPr sz="1400" b="0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 as the positive gate instead.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90112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Configure guardrail-specific metrics (invocation count, latency, throttles, InvocationsIntervened, TextUnitCount) and enable distributed tracing across all components.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03192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Write the runbook for a latency spike investigation before you need it.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§8 Phases 3–4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Phases 3 and 4 — Optimization and Maintenance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5336895" cy="36576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307592"/>
            <a:ext cx="5080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3 —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28216"/>
            <a:ext cx="5336895" cy="675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Enable AgentCore Evaluations (online mode) for continuous quality assessment — verify PrivateLink posture first if you are in a private network.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03348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Establish baseline latency measurements per hop — you cannot detect a regression against an estimate.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886964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Run Optimization Recommendations when quality degrades, and validate with batch evaluations before A/B testing.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370580"/>
            <a:ext cx="5336895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Implement A/B testing via Gateway traffic splitting.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62680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Document each optimization cycle and every threshold-tuning decision — including the ones you reverted.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7871" y="1225296"/>
            <a:ext cx="5336895" cy="365760"/>
          </a:xfrm>
          <a:prstGeom prst="rect">
            <a:avLst/>
          </a:prstGeom>
          <a:solidFill>
            <a:srgbClr val="1E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307592"/>
            <a:ext cx="5080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4 —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7871" y="1728216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Review guardrail policies quarterly and remove redundant checks — every duplicate check is latency you pay for twice.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7871" y="2211832"/>
            <a:ext cx="5336895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Monitor latency trends as model and traffic patterns change.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7871" y="2503932"/>
            <a:ext cx="5336895" cy="675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Update Cedar policies as new tools are added — a new tool with no policy is default-denied, which is safe but looks like an outage.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7871" y="3179064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Revisit thresholds against observed false-positive and false-negative rates.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7871" y="3662680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Re-run the guardrail regression set periodically — AWS auto-updates the underlying models with no action on your part.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09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Reference Architecture: The Complete Closed Loop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Arial"/>
                <a:cs typeface="Arial"/>
              </a:rPr>
              <a:t>Every hop, every metric surface, and the feedback path — on one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Reference architecture: the complete closed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82496"/>
            <a:ext cx="10945368" cy="1828800"/>
          </a:xfrm>
          <a:prstGeom prst="roundRect">
            <a:avLst>
              <a:gd name="adj" fmla="val 3000"/>
            </a:avLst>
          </a:prstGeom>
          <a:solidFill>
            <a:srgbClr val="F3F6F9"/>
          </a:solidFill>
          <a:ln w="1143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46504"/>
            <a:ext cx="10725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REQUEST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85615"/>
            <a:ext cx="10945368" cy="1600200"/>
          </a:xfrm>
          <a:prstGeom prst="roundRect">
            <a:avLst>
              <a:gd name="adj" fmla="val 3000"/>
            </a:avLst>
          </a:prstGeom>
          <a:solidFill>
            <a:srgbClr val="E7F4EA"/>
          </a:solidFill>
          <a:ln w="1143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3849624"/>
            <a:ext cx="10725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RESPONSE PATH + FEEDBACK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85416"/>
            <a:ext cx="14630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1448" y="2185416"/>
            <a:ext cx="17830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Gateway</a:t>
            </a:r>
            <a:br/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</a:t>
            </a:r>
            <a:br/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Hop #1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2185416"/>
            <a:ext cx="17830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Input</a:t>
            </a:r>
            <a:br/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</a:t>
            </a:r>
            <a:br/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Hop #2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4808" y="2185416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Model</a:t>
            </a:r>
            <a:br/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inference</a:t>
            </a:r>
            <a:br/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Hop #3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7928" y="2185416"/>
            <a:ext cx="14173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Cedar</a:t>
            </a:r>
            <a:br/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Hop #4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68128" y="2185416"/>
            <a:ext cx="14173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Tools</a:t>
            </a:r>
            <a:br/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Hop #5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" y="4288536"/>
            <a:ext cx="2194560" cy="960120"/>
          </a:xfrm>
          <a:prstGeom prst="roundRect">
            <a:avLst>
              <a:gd name="adj" fmla="val 6000"/>
            </a:avLst>
          </a:prstGeom>
          <a:solidFill>
            <a:srgbClr val="E7F4EA"/>
          </a:solidFill>
          <a:ln w="1270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Output guardrail — Hop #6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8" y="4288536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CloudWatch metrics · spans · alarms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4288536"/>
            <a:ext cx="24231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Evaluations</a:t>
            </a:r>
            <a:br/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on-demand · batch · online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8" y="4288536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Optimization recommendations → A/B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12848" y="2756916"/>
            <a:ext cx="22860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224528" y="2756916"/>
            <a:ext cx="22860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36208" y="2756916"/>
            <a:ext cx="22860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39328" y="2756916"/>
            <a:ext cx="22860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985248" y="2756916"/>
            <a:ext cx="18288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81528" y="4768596"/>
            <a:ext cx="27432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61888" y="4768596"/>
            <a:ext cx="27432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659368" y="4768596"/>
            <a:ext cx="27432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59567" y="5248656"/>
            <a:ext cx="566929" cy="502920"/>
          </a:xfrm>
          <a:prstGeom prst="line">
            <a:avLst/>
          </a:prstGeom>
          <a:ln w="15875">
            <a:solidFill>
              <a:srgbClr val="FF99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984248" y="5751576"/>
            <a:ext cx="8842248" cy="0"/>
          </a:xfrm>
          <a:prstGeom prst="line">
            <a:avLst/>
          </a:prstGeom>
          <a:ln w="15875">
            <a:solidFill>
              <a:srgbClr val="FF99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984248" y="5248656"/>
            <a:ext cx="0" cy="502920"/>
          </a:xfrm>
          <a:prstGeom prst="line">
            <a:avLst/>
          </a:prstGeom>
          <a:ln w="15875">
            <a:solidFill>
              <a:srgbClr val="FF99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66928" y="5998464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6044184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Denials do NOT arrive as HTTP 403 on the MCP surface: 120/120 were HTTP 200 with JSON-RPC -32002 naming the policy id. On the inference surface they are HTTP 403 with a permission_error envelope. Two surfaces, two shapes — and tools/list denies by returning an empty list with no error at all.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10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References and Appendices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Arial"/>
                <a:cs typeface="Arial"/>
              </a:rPr>
              <a:t>24 AWS documentation references, the checkpoint decision matrix, the latency techniques, and the full change log from v1.2.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Key AWS documentation references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3878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All 24 links were checked live on 2026-08-09 and all 24 resolved. Link liveness is a property that changes, so that observation is dated rather than asserted.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22882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73174"/>
            <a:ext cx="353964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6026" y="1773174"/>
            <a:ext cx="72255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URL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0634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56638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How Bedrock Guardrails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6026" y="2056638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https://docs.aws.amazon.com/bedrock/latest/userguide/guardrails-how.html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280666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28066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30958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Guardrails in AgentCore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6026" y="2330958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https://docs.aws.amazon.com/bedrock-agentcore/latest/devguide/policy-guardrails-in-policies.html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55498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05278"/>
            <a:ext cx="353964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Getting Started with Gateway Guardrails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6026" y="2605278"/>
            <a:ext cx="722558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https://docs.aws.amazon.com/bedrock-agentcore/latest/devguide/policy-guardrails-getting-started.html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003041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00304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53333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Policy in AgentCore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6026" y="3053333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https://docs.aws.amazon.com/bedrock-agentcore/latest/devguide/policy.html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27736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327653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Understanding Cedar Policies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6026" y="3327653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https://docs.aws.amazon.com/bedrock-agentcore/latest/devguide/policy-understanding-cedar.html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551681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55168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601973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Policy Conditions (when guardrails)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6026" y="3601973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https://docs.aws.amazon.com/bedrock-agentcore/latest/devguide/policy-conditions.html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82600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876293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Testing Policies (LOG_ONLY workflow)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6026" y="3876293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https://docs.aws.amazon.com/bedrock-agentcore/latest/devguide/policy-test-a-policy.html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100321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10032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150613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ApplyGuardrail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6026" y="4150613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https://docs.aws.amazon.com/bedrock/latest/userguide/guardrails-use-independent-api.html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37464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424933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Guardrails Streaming Modes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6026" y="4424933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https://docs.aws.amazon.com/bedrock/latest/userguide/guardrails-streaming.html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648961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" y="464896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699253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Guardrails Tiers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26026" y="4699253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https://docs.aws.amazon.com/bedrock/latest/userguide/guardrails-tiers.html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92328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973573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Guardrails Supported Languages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6026" y="4973573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https://docs.aws.amazon.com/bedrock/latest/userguide/guardrails-supported-languages.html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197601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" y="519760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247893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Guardrails Input Tagging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6026" y="5247893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https://docs.aws.amazon.com/bedrock/latest/userguide/guardrails-tagging.html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547192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§10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Key AWS documentation references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75588"/>
            <a:ext cx="353964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6026" y="1275588"/>
            <a:ext cx="72255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URL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087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9052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AgentCore Observability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6026" y="1559052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https://docs.aws.amazon.com/bedrock-agentcore/latest/devguide/observability.html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83080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178308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33372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AgentCore Gateway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6026" y="1833372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https://docs.aws.amazon.com/bedrock-agentcore/latest/devguide/observability-gateway-metrics.html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05740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07692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AgentCore Policy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6026" y="2107692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https://docs.aws.amazon.com/bedrock-agentcore/latest/devguide/observability-policy-metrics.html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331720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33172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382012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Monitor Bedrock Guardrails with CloudWatch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6026" y="2382012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https://docs.aws.amazon.com/bedrock/latest/userguide/monitoring-guardrails-cw-metrics.html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60603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56332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Monitor Bedrock Runtime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6026" y="2656332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https://docs.aws.amazon.com/bedrock/latest/userguide/monitoring-runtime-metrics.html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880359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288035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930651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AgentCore Evaluations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6026" y="2930651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https://docs.aws.amazon.com/bedrock-agentcore/latest/devguide/evaluations.html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15467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204971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AgentCore Optimization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6026" y="3204971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https://docs.aws.amazon.com/bedrock-agentcore/latest/devguide/optimization.html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428999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342899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479291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AgentCore A/B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6026" y="3479291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https://docs.aws.amazon.com/bedrock-agentcore/latest/devguide/ab-testing.html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70331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753611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Well-Architected Agentic AI Lens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6026" y="3753611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https://docs.aws.amazon.com/wellarchitected/latest/agentic-ai-lens/agentic-ai-lens.html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977639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397763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027931"/>
            <a:ext cx="353964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Input Validation Best Practices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6026" y="4027931"/>
            <a:ext cx="722558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https://docs.aws.amazon.com/prescriptive-guidance/latest/agentic-ai-security/best-practices-input-validation.html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42569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475987"/>
            <a:ext cx="353964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AgentCore Memory Best Practices (Memory security; not guardrails-specific)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26026" y="4475987"/>
            <a:ext cx="722558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https://docs.aws.amazon.com/bedrock-agentcore/latest/devguide/best-practices.html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873751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" y="487375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924043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Diagnose InvocationLatency with OTPS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26026" y="4924043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https://docs.aws.amazon.com/bedrock/latest/userguide/monitoring-runtime-otps.html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514807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Appendix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Checkpoint decision matrix: check each risk at the cheapest hop that can see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✅ = apply here · ❌ = do not · Optional = only if the cheaper hop cannot see this risk.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6822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2181662" cy="185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8046" y="1606677"/>
            <a:ext cx="1599670" cy="185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Gateway (Hop#1)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4020" y="1606677"/>
            <a:ext cx="2181662" cy="185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 Guard (Hop#2)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1986" y="1606677"/>
            <a:ext cx="2763653" cy="185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 I/O (Hop#5)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1944" y="1606677"/>
            <a:ext cx="1599670" cy="185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 Guard (Hop#6)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82460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74901"/>
            <a:ext cx="2181662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Prompt Injection/Attack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8046" y="1874901"/>
            <a:ext cx="159967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 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4020" y="1874901"/>
            <a:ext cx="2181662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Optional (deduplicate; requires input tagging)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1986" y="1874901"/>
            <a:ext cx="2763653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 for external/untrusted tool responses (indirect injection vector)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1944" y="1874901"/>
            <a:ext cx="1599670" cy="3368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43709"/>
            <a:ext cx="11057839" cy="25984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24370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294001"/>
            <a:ext cx="2181662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Violent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8046" y="2294001"/>
            <a:ext cx="1599670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 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4020" y="2294001"/>
            <a:ext cx="2181662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 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1986" y="2294001"/>
            <a:ext cx="2763653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1944" y="2294001"/>
            <a:ext cx="1599670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 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50355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553843"/>
            <a:ext cx="2181662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Sexual Content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68046" y="2553843"/>
            <a:ext cx="1599670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 MEDIUM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14020" y="2553843"/>
            <a:ext cx="2181662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 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1986" y="2553843"/>
            <a:ext cx="2763653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51944" y="2553843"/>
            <a:ext cx="1599670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 MEDIUM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763393"/>
            <a:ext cx="11057839" cy="25984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2763393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2813685"/>
            <a:ext cx="2181662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Hate Speech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68046" y="2813685"/>
            <a:ext cx="1599670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 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14020" y="2813685"/>
            <a:ext cx="2181662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 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1986" y="2813685"/>
            <a:ext cx="2763653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1944" y="2813685"/>
            <a:ext cx="1599670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 MEDIUM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02323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073527"/>
            <a:ext cx="2181662" cy="1451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PII/Sensitive Info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68046" y="3073527"/>
            <a:ext cx="1599670" cy="1451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14020" y="3073527"/>
            <a:ext cx="2181662" cy="1451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 (detect — </a:t>
            </a:r>
            <a:r>
              <a:rPr sz="1045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but 9 of 31 documented entity types were measured undetected; see §3.2</a:t>
            </a: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1986" y="3073527"/>
            <a:ext cx="2763653" cy="1451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 (redact — v1.2's caveat that </a:t>
            </a:r>
            <a:r>
              <a:rPr sz="1045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tool_use</a:t>
            </a: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parameters are not scanned is refuted for the probed entity: identical EMAIL PII was handled in both message text and a tool-result JSON block on every trial; one entity type of 31 probed, caller-supplied input-side tool blocks only, regex </a:t>
            </a:r>
            <a:r>
              <a:rPr sz="1045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sensitiveInformationPolicyConfig</a:t>
            </a: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untested — see §4.2 BP#4)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1944" y="3073527"/>
            <a:ext cx="1599670" cy="1451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 (redact)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557141"/>
            <a:ext cx="11057839" cy="25984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455714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607433"/>
            <a:ext cx="2181662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Denied Topics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68046" y="4607433"/>
            <a:ext cx="1599670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14020" y="4607433"/>
            <a:ext cx="2181662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1986" y="4607433"/>
            <a:ext cx="2763653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1944" y="4607433"/>
            <a:ext cx="1599670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4816983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867275"/>
            <a:ext cx="2181662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Word Blocklist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68046" y="4867275"/>
            <a:ext cx="1599670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14020" y="4867275"/>
            <a:ext cx="2181662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1986" y="4867275"/>
            <a:ext cx="2763653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51944" y="4867275"/>
            <a:ext cx="1599670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076825"/>
            <a:ext cx="11057839" cy="578358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6928" y="507682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5127117"/>
            <a:ext cx="2181662" cy="49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Hallucination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68046" y="5127117"/>
            <a:ext cx="1599670" cy="49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14020" y="5127117"/>
            <a:ext cx="2181662" cy="49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41986" y="5127117"/>
            <a:ext cx="2763653" cy="49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51944" y="5127117"/>
            <a:ext cx="1599670" cy="49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 (Contextual Grounding / Automated Reasoning, detect-only)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" y="5655183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5705475"/>
            <a:ext cx="2181662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Tool Authorization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68046" y="5705475"/>
            <a:ext cx="1599670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14020" y="5705475"/>
            <a:ext cx="2181662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41986" y="5705475"/>
            <a:ext cx="2763653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✅ (Cedar)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51944" y="5705475"/>
            <a:ext cx="1599670" cy="1775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45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591502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Appendix 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Latency optimization techniques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75588"/>
            <a:ext cx="301307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9462" y="1275588"/>
            <a:ext cx="45927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8536" y="1275588"/>
            <a:ext cx="301307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Latency Reduction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087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9052"/>
            <a:ext cx="301307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Parallel policy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9462" y="1559052"/>
            <a:ext cx="459276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Bedrock evaluates all input policies in parallel (built-in)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8536" y="1559052"/>
            <a:ext cx="301307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Significant vs. sequential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783080"/>
            <a:ext cx="11057839" cy="62179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78308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33372"/>
            <a:ext cx="301307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Early blocking at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9462" y="1833372"/>
            <a:ext cx="459276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Block at Hop#1 to skip Hops #2–6 entirely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8536" y="1833372"/>
            <a:ext cx="301307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Measured saving 30–57 ms (Hodges-Lehmann shift 95% CI [30.2, 57.0]). Avoided model-inference charges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404872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455164"/>
            <a:ext cx="301307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Content block batching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9462" y="2455164"/>
            <a:ext cx="459276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Batch multiple content blocks in a single ApplyGuardrail 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8536" y="2455164"/>
            <a:ext cx="301307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Fewer round trips (AWS publishes no specific figures; InvokeGuardrailChecks caps at 10 content blocks/message)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026663"/>
            <a:ext cx="11057839" cy="969263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026663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76956"/>
            <a:ext cx="3013078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Selective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9462" y="3076956"/>
            <a:ext cx="4592769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Only apply guardrails to content that needs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8536" y="3076956"/>
            <a:ext cx="3013078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Proportional to skip rate — </a:t>
            </a: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but do not count input tagging as a text-unit saving:</a:t>
            </a: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tagged evaluation of a RAG-shaped prompt reported a text-unit count IDENTICAL to untagged.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995927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046219"/>
            <a:ext cx="301307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Deduplicate across layers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9462" y="4046219"/>
            <a:ext cx="459276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Remove same policy from multiple hops (verify no coverage gap first)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8536" y="4046219"/>
            <a:ext cx="301307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Removes redundant evaluation 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443983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443983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494275"/>
            <a:ext cx="301307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Latency-optimized inference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9462" y="4494275"/>
            <a:ext cx="459276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Use Bedrock latency-optimized inference for model calls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8536" y="4494275"/>
            <a:ext cx="301307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Reduces Hop#3 time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718303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768595"/>
            <a:ext cx="301307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Asynchronous streaming mode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9462" y="4768595"/>
            <a:ext cx="459276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Official ASYNCHRONOUS streamProcessingMode: chunks stream immediately, scanning in background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8536" y="4768595"/>
            <a:ext cx="301307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Removes buffering delay (trade-off: leakage window before blocking; no PII masking in async mode)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534009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Appendix 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What measurement changed, in one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5300319" cy="567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Corrections driven by </a:t>
            </a:r>
            <a:r>
              <a:rPr sz="1400" b="1" i="0">
                <a:solidFill>
                  <a:srgbClr val="B31D1D"/>
                </a:solidFill>
                <a:latin typeface="Arial"/>
                <a:ea typeface="Arial"/>
                <a:cs typeface="Arial"/>
              </a:rPr>
              <a:t>FALSE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verdicts — the document was wrong: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793240"/>
            <a:ext cx="5062575" cy="639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§6.1 latency table: illustrative ranges replaced by measured p50/p90/p99; five of six hops outside v1.2's bands. Per-additional-tool-call cost 165–750 ms → </a:t>
            </a:r>
            <a:r>
              <a:rPr sz="1302" b="1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≈850 ms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32679"/>
            <a:ext cx="506257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§3.1/§2.1/§9: "HTTP 403" corrected — MCP denials are HTTP 200 + JSON-RPC -32002, 120/120.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880309"/>
            <a:ext cx="506257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§3.2/Appendix A: 9 of 31 documented PII entity types measured undetected.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327938"/>
            <a:ext cx="5062575" cy="639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§3.4 tier table: Classic prompt-leakage detection is weak-but-measurable (recall 0.41), not "No"; the Standard 1,000-char denied-topic limit was rejected.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967378"/>
            <a:ext cx="5062575" cy="639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§6.2/§6.4/§8: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ConfidenceScore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,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ConfidenceThreshold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,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TemporalLatency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 absent;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LogOnlyEvalIncomplete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 unusable as an alarm.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606818"/>
            <a:ext cx="5062575" cy="639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§7.1: calibration re-pointed from CloudWatch to the application logs; §5.1: "Automated Reasoning has no streaming support" withdrawn.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1225296"/>
            <a:ext cx="5300319" cy="567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Additions driven by </a:t>
            </a:r>
            <a:r>
              <a:rPr sz="1400" b="1" i="0">
                <a:solidFill>
                  <a:srgbClr val="1E7E3C"/>
                </a:solidFill>
                <a:latin typeface="Arial"/>
                <a:ea typeface="Arial"/>
                <a:cs typeface="Arial"/>
              </a:rPr>
              <a:t>TRUE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verdicts — new prerequisites the document did not state: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191" y="1793240"/>
            <a:ext cx="5062575" cy="1023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The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botocore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 ≥ 1.43.32 floor with its 1.43.30–.31 trap window; the explicit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validationMode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 requirement; the ≈50 s span lag and p90 = 11.5 s metric publish lag; actual span names; revocation is eventually consistent in </a:t>
            </a:r>
            <a:r>
              <a:rPr sz="1302" b="1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both</a:t>
            </a:r>
            <a:r>
              <a:rPr sz="1302" b="0" i="0">
                <a:solidFill>
                  <a:srgbClr val="3A424A"/>
                </a:solidFill>
                <a:latin typeface="Arial"/>
                <a:ea typeface="Arial"/>
                <a:cs typeface="Arial"/>
              </a:rPr>
              <a:t> directions, so "revoke, confirm, proceed" runbooks are prohibited.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2816301"/>
            <a:ext cx="5300319" cy="159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Deliberately left unchanged: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 every claim whose case returned </a:t>
            </a:r>
            <a:r>
              <a:rPr sz="1400" b="1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INCONCLUSIVE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, was untestable, or is outstanding — per-direction independence, streaming modes, interceptors, </a:t>
            </a:r>
            <a:r>
              <a:rPr sz="1400" b="1" i="0">
                <a:solidFill>
                  <a:srgbClr val="1B2631"/>
                </a:solidFill>
                <a:latin typeface="Courier New"/>
                <a:ea typeface="Courier New"/>
                <a:cs typeface="Courier New"/>
              </a:rPr>
              <a:t>suppressOutput</a:t>
            </a:r>
            <a:r>
              <a:rPr sz="14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, the 10-content-block cap, auto-update drift, the three target types, reasoning-block exclusion, network containment, the fail-secure timeout, and §3.2's billing asymmetry.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4415485"/>
            <a:ext cx="5300319" cy="719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– </a:t>
            </a:r>
            <a:r>
              <a:rPr sz="14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Marker-only changes are the majority of the diff. That is the point: the document says less than it could, and everything it does say now has a file behind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103620"/>
            <a:ext cx="25603" cy="214884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614934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Every change is traceable to a verdict file under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results/phase1/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. Counts re-derived by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census.py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 on 2026-08-15.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Arial"/>
                <a:cs typeface="Arial"/>
              </a:rPr>
              <a:t>Summary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Arial"/>
                <a:cs typeface="Arial"/>
              </a:rPr>
              <a:t>What to take 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AgentCore Guardrails — Closed-Loop Design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5336895" cy="365760"/>
          </a:xfrm>
          <a:prstGeom prst="rect">
            <a:avLst/>
          </a:prstGeom>
          <a:solidFill>
            <a:srgbClr val="1E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307592"/>
            <a:ext cx="5080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28216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Pin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botocore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≥ 1.43.32 and pass an explicit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validationMode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before writing any policy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11832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Write the baseline permit before enabling ENFORCE; Cedar is default-deny.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95448"/>
            <a:ext cx="5336895" cy="675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Choose the tier from your traffic's language, then check data residency against Standard's mandatory cross-Region inference.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370580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Put anything that must not be talked around into Cedar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permit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/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forbid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, not into a guardrail.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854196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Budget ≈850 ms per additional tool call, and set alarm periods ≥ 60 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337812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Make denial detection surface-aware: -32002, HTTP 403, and an empty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tools/list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7871" y="1225296"/>
            <a:ext cx="5336895" cy="365760"/>
          </a:xfrm>
          <a:prstGeom prst="rect">
            <a:avLst/>
          </a:prstGeom>
          <a:solidFill>
            <a:srgbClr val="B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7" y="1307592"/>
            <a:ext cx="5080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 not do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7871" y="1728216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Do not plan a Region from v1.2's five-Region list — it is refuted. Verify your own.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7871" y="2211832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Do not treat a 202 as success; the policy can settle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CREATE_FAILED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afterwards.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7871" y="2695448"/>
            <a:ext cx="5336895" cy="675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Do not alarm on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ConfidenceScore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,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ConfidenceThreshold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,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TemporalLatency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or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LogOnlyEvalIncomplete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 — none published a datapoint 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7871" y="3370580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Do not read a mismatch metric with a cross-dimension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: it reads up to 6× the request count.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7871" y="3854196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Do not calibrate thresholds from CloudWatch — the score is in the application logs, as a string.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7871" y="4337812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Arial"/>
                <a:cs typeface="Arial"/>
              </a:rPr>
              <a:t>Do not write a runbook of the form "revoke, confirm, proceed": revocation is eventually consistent in both directions.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103620"/>
            <a:ext cx="25603" cy="214884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614934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Every claim on this slide is either a measured verdict or an explicit absence of one. The evidence is one file per case under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results/phase1/</a:t>
            </a:r>
            <a:r>
              <a:rPr sz="900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 in the repository on the title slide.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Arial"/>
                <a:cs typeface="Arial"/>
              </a:rPr>
              <a:t>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document is the deliverable; this deck is a reading of it.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Arial"/>
                <a:cs typeface="Arial"/>
              </a:rPr>
              <a:t>v1.4, both languages, with every amendment traceable to a verdict file. Claims whose cases are outstanding, </a:t>
            </a:r>
            <a:r>
              <a:rPr sz="1400" b="0" i="0">
                <a:solidFill>
                  <a:srgbClr val="9A5500"/>
                </a:solidFill>
                <a:latin typeface="Arial"/>
                <a:ea typeface="Arial"/>
                <a:cs typeface="Arial"/>
              </a:rPr>
              <a:t>INCONCLUSIVE</a:t>
            </a:r>
            <a:r>
              <a:rPr sz="1400" b="0" i="0">
                <a:solidFill>
                  <a:srgbClr val="B9C6D2"/>
                </a:solidFill>
                <a:latin typeface="Arial"/>
                <a:ea typeface="Arial"/>
                <a:cs typeface="Arial"/>
              </a:rPr>
              <a:t> or untestable are unchanged — only markers were added.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800600"/>
            <a:ext cx="9509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Arial"/>
                <a:cs typeface="Arial"/>
              </a:rPr>
              <a:t>agentcore_guardrails_best_practices_v1.4.md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Arial"/>
                <a:cs typeface="Arial"/>
              </a:rPr>
              <a:t>agentcore_guardrails_best_practices_v1.4.zh-TW.md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Arial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Arial"/>
                <a:cs typeface="Arial"/>
              </a:rPr>
              <a:t>github.com/timwukp/agentcore-guardrails-design-validation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